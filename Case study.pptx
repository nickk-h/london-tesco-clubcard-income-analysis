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20"/>
  </p:notesMasterIdLst>
  <p:sldIdLst>
    <p:sldId id="256" r:id="rId5"/>
    <p:sldId id="257" r:id="rId6"/>
    <p:sldId id="258" r:id="rId7"/>
    <p:sldId id="272" r:id="rId8"/>
    <p:sldId id="264" r:id="rId9"/>
    <p:sldId id="280" r:id="rId10"/>
    <p:sldId id="276" r:id="rId11"/>
    <p:sldId id="279" r:id="rId12"/>
    <p:sldId id="283" r:id="rId13"/>
    <p:sldId id="284" r:id="rId14"/>
    <p:sldId id="269" r:id="rId15"/>
    <p:sldId id="285" r:id="rId16"/>
    <p:sldId id="274" r:id="rId17"/>
    <p:sldId id="278" r:id="rId18"/>
    <p:sldId id="286" r:id="rId19"/>
  </p:sldIdLst>
  <p:sldSz cx="9144000" cy="5143500" type="screen16x9"/>
  <p:notesSz cx="6858000" cy="9144000"/>
  <p:embeddedFontLst>
    <p:embeddedFont>
      <p:font typeface="Roboto" panose="02000000000000000000" pitchFamily="2" charset="0"/>
      <p:regular r:id="rId21"/>
      <p:bold r:id="rId22"/>
      <p:italic r:id="rId23"/>
      <p:boldItalic r:id="rId24"/>
    </p:embeddedFont>
    <p:embeddedFont>
      <p:font typeface="Trebuchet MS" panose="020B0703020202090204" pitchFamily="34" charset="0"/>
      <p:regular r:id="rId25"/>
      <p:bold r:id="rId26"/>
      <p: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793E34F-3A9D-52F8-72F3-F330757EC89E}" name="Yash Rai" initials="YR" userId="S::yvr21@bath.ac.uk::825735b0-8ff8-4624-a5fb-c627682db7e3" providerId="AD"/>
  <p188:author id="{D3AB42CF-AF53-3416-F0F2-B0F91418FC70}" name="George Seiradakis" initials="GS" userId="S::ges65@bath.ac.uk::3e2476f4-22b6-44b7-b2aa-771425247ec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9E6A4"/>
    <a:srgbClr val="CBA3DE"/>
    <a:srgbClr val="7AA9DF"/>
    <a:srgbClr val="4261F1"/>
    <a:srgbClr val="2DC4B7"/>
    <a:srgbClr val="FA2585"/>
    <a:srgbClr val="FF6B6B"/>
    <a:srgbClr val="334536"/>
    <a:srgbClr val="7BBAB4"/>
    <a:srgbClr val="147D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87CBF7-05A9-7545-A307-08250D19E862}" v="1222" dt="2026-03-27T15:58:43.913"/>
    <p1510:client id="{A34CE404-65E2-CE83-C7E0-B9430538B184}" v="19" dt="2026-03-27T15:59:55.705"/>
    <p1510:client id="{D9BFFC54-C841-04BE-1F04-ABA10A7D2A32}" v="91" dt="2026-03-27T12:42:51.478"/>
    <p1510:client id="{FC474A0A-F7F0-447D-9FC1-EF9F9A0C66A8}" v="5" dt="2026-03-27T17:24:54.7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21"/>
    <p:restoredTop sz="94690"/>
  </p:normalViewPr>
  <p:slideViewPr>
    <p:cSldViewPr snapToGrid="0">
      <p:cViewPr varScale="1">
        <p:scale>
          <a:sx n="115" d="100"/>
          <a:sy n="115" d="100"/>
        </p:scale>
        <p:origin x="200" y="7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6.fntdata"/><Relationship Id="rId3" Type="http://schemas.openxmlformats.org/officeDocument/2006/relationships/customXml" Target="../customXml/item3.xml"/><Relationship Id="rId21" Type="http://schemas.openxmlformats.org/officeDocument/2006/relationships/font" Target="fonts/font1.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theme" Target="theme/theme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c6f9e470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c6f9e470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Nutritional stats of the average product consumed in an area.</a:t>
            </a:r>
            <a:endParaRPr lang="en-US" b="1">
              <a:solidFill>
                <a:srgbClr val="222222"/>
              </a:solidFill>
              <a:highlight>
                <a:srgbClr val="FFFFFF"/>
              </a:highlight>
            </a:endParaRPr>
          </a:p>
          <a:p>
            <a:pPr marL="0" indent="0">
              <a:buNone/>
            </a:pPr>
            <a:endParaRPr lang="en-US"/>
          </a:p>
          <a:p>
            <a:pPr marL="0" indent="0">
              <a:buNone/>
            </a:pPr>
            <a:r>
              <a:rPr lang="en-US"/>
              <a:t>Nutritional: nutrients like sugar, salt etc. </a:t>
            </a:r>
          </a:p>
          <a:p>
            <a:pPr marL="0" indent="0">
              <a:buNone/>
            </a:pPr>
            <a:r>
              <a:rPr lang="en-US"/>
              <a:t>Demographic: </a:t>
            </a:r>
            <a:r>
              <a:rPr lang="en-US" b="1">
                <a:solidFill>
                  <a:srgbClr val="188038"/>
                </a:solidFill>
              </a:rPr>
              <a:t>population</a:t>
            </a:r>
            <a:r>
              <a:rPr lang="en-US" b="1">
                <a:solidFill>
                  <a:srgbClr val="404040"/>
                </a:solidFill>
              </a:rPr>
              <a:t>, </a:t>
            </a:r>
            <a:r>
              <a:rPr lang="en-US" b="1">
                <a:solidFill>
                  <a:srgbClr val="188038"/>
                </a:solidFill>
              </a:rPr>
              <a:t>male</a:t>
            </a:r>
            <a:r>
              <a:rPr lang="en-US" b="1">
                <a:solidFill>
                  <a:srgbClr val="404040"/>
                </a:solidFill>
              </a:rPr>
              <a:t>, </a:t>
            </a:r>
            <a:r>
              <a:rPr lang="en-US" b="1">
                <a:solidFill>
                  <a:srgbClr val="188038"/>
                </a:solidFill>
              </a:rPr>
              <a:t>female</a:t>
            </a:r>
            <a:r>
              <a:rPr lang="en-US" b="1">
                <a:solidFill>
                  <a:srgbClr val="404040"/>
                </a:solidFill>
              </a:rPr>
              <a:t>, and age brackets (</a:t>
            </a:r>
            <a:r>
              <a:rPr lang="en-US" b="1">
                <a:solidFill>
                  <a:srgbClr val="188038"/>
                </a:solidFill>
              </a:rPr>
              <a:t>age_0_17</a:t>
            </a:r>
            <a:r>
              <a:rPr lang="en-US" b="1">
                <a:solidFill>
                  <a:srgbClr val="404040"/>
                </a:solidFill>
              </a:rPr>
              <a:t>, </a:t>
            </a:r>
            <a:r>
              <a:rPr lang="en-US" b="1">
                <a:solidFill>
                  <a:srgbClr val="188038"/>
                </a:solidFill>
              </a:rPr>
              <a:t>age_65+</a:t>
            </a:r>
            <a:r>
              <a:rPr lang="en-US" b="1">
                <a:solidFill>
                  <a:srgbClr val="404040"/>
                </a:solidFill>
              </a:rPr>
              <a:t>)</a:t>
            </a:r>
            <a:endParaRPr lang="en-US"/>
          </a:p>
          <a:p>
            <a:pPr marL="0" indent="0">
              <a:buNone/>
            </a:pPr>
            <a:r>
              <a:rPr lang="en-US" b="1">
                <a:solidFill>
                  <a:srgbClr val="404040"/>
                </a:solidFill>
              </a:rPr>
              <a:t>Data quality: </a:t>
            </a:r>
            <a:r>
              <a:rPr lang="en-US" b="1" err="1">
                <a:solidFill>
                  <a:srgbClr val="188038"/>
                </a:solidFill>
              </a:rPr>
              <a:t>representativeness_norm</a:t>
            </a:r>
            <a:endParaRPr lang="en-US" b="1">
              <a:solidFill>
                <a:srgbClr val="40404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c6f9e470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c6f9e470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Does not account for food-related spending such as at restaurants. Also excludes online purchases</a:t>
            </a:r>
          </a:p>
          <a:p>
            <a:pPr marL="0" lvl="0" indent="0" algn="l">
              <a:spcBef>
                <a:spcPts val="0"/>
              </a:spcBef>
              <a:spcAft>
                <a:spcPts val="0"/>
              </a:spcAft>
              <a:buNone/>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1EE61137-A867-752A-2D49-3597F58D4C20}"/>
            </a:ext>
          </a:extLst>
        </p:cNvPr>
        <p:cNvGrpSpPr/>
        <p:nvPr/>
      </p:nvGrpSpPr>
      <p:grpSpPr>
        <a:xfrm>
          <a:off x="0" y="0"/>
          <a:ext cx="0" cy="0"/>
          <a:chOff x="0" y="0"/>
          <a:chExt cx="0" cy="0"/>
        </a:xfrm>
      </p:grpSpPr>
      <p:sp>
        <p:nvSpPr>
          <p:cNvPr id="108" name="Google Shape;108;gc6f9e470d_0_24:notes">
            <a:extLst>
              <a:ext uri="{FF2B5EF4-FFF2-40B4-BE49-F238E27FC236}">
                <a16:creationId xmlns:a16="http://schemas.microsoft.com/office/drawing/2014/main" id="{475F3E06-3087-4788-DD5C-25A9AEFAAD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c6f9e470d_0_24:notes">
            <a:extLst>
              <a:ext uri="{FF2B5EF4-FFF2-40B4-BE49-F238E27FC236}">
                <a16:creationId xmlns:a16="http://schemas.microsoft.com/office/drawing/2014/main" id="{C473E10E-B569-4DB6-84A8-0515606B03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3648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c6f9e470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c6f9e470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err="1"/>
              <a:t>Equivalised</a:t>
            </a:r>
            <a:r>
              <a:rPr lang="en-US"/>
              <a:t> = adjusted for household size/composition.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C0DC39CB-AC1A-D2FC-AEE3-30F2F3495935}"/>
            </a:ext>
          </a:extLst>
        </p:cNvPr>
        <p:cNvGrpSpPr/>
        <p:nvPr/>
      </p:nvGrpSpPr>
      <p:grpSpPr>
        <a:xfrm>
          <a:off x="0" y="0"/>
          <a:ext cx="0" cy="0"/>
          <a:chOff x="0" y="0"/>
          <a:chExt cx="0" cy="0"/>
        </a:xfrm>
      </p:grpSpPr>
      <p:sp>
        <p:nvSpPr>
          <p:cNvPr id="108" name="Google Shape;108;gc6f9e470d_0_24:notes">
            <a:extLst>
              <a:ext uri="{FF2B5EF4-FFF2-40B4-BE49-F238E27FC236}">
                <a16:creationId xmlns:a16="http://schemas.microsoft.com/office/drawing/2014/main" id="{25A9D26E-54B0-289C-1DC4-113F4BB489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c6f9e470d_0_24:notes">
            <a:extLst>
              <a:ext uri="{FF2B5EF4-FFF2-40B4-BE49-F238E27FC236}">
                <a16:creationId xmlns:a16="http://schemas.microsoft.com/office/drawing/2014/main" id="{0C290F28-B476-9072-5FC9-F83698130F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9213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621A855D-DD47-C4A3-65BB-9206EEADDE7A}"/>
            </a:ext>
          </a:extLst>
        </p:cNvPr>
        <p:cNvGrpSpPr/>
        <p:nvPr/>
      </p:nvGrpSpPr>
      <p:grpSpPr>
        <a:xfrm>
          <a:off x="0" y="0"/>
          <a:ext cx="0" cy="0"/>
          <a:chOff x="0" y="0"/>
          <a:chExt cx="0" cy="0"/>
        </a:xfrm>
      </p:grpSpPr>
      <p:sp>
        <p:nvSpPr>
          <p:cNvPr id="122" name="Google Shape;122;gc6f9e470d_0_37:notes">
            <a:extLst>
              <a:ext uri="{FF2B5EF4-FFF2-40B4-BE49-F238E27FC236}">
                <a16:creationId xmlns:a16="http://schemas.microsoft.com/office/drawing/2014/main" id="{DDD08088-3BCE-294F-6219-95D095FF6D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c6f9e470d_0_37:notes">
            <a:extLst>
              <a:ext uri="{FF2B5EF4-FFF2-40B4-BE49-F238E27FC236}">
                <a16:creationId xmlns:a16="http://schemas.microsoft.com/office/drawing/2014/main" id="{633E3565-32E4-8265-F661-34CCC89B02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1522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2C7F4F71-C578-D26D-2AE0-0A2383F7AC75}"/>
            </a:ext>
          </a:extLst>
        </p:cNvPr>
        <p:cNvGrpSpPr/>
        <p:nvPr/>
      </p:nvGrpSpPr>
      <p:grpSpPr>
        <a:xfrm>
          <a:off x="0" y="0"/>
          <a:ext cx="0" cy="0"/>
          <a:chOff x="0" y="0"/>
          <a:chExt cx="0" cy="0"/>
        </a:xfrm>
      </p:grpSpPr>
      <p:sp>
        <p:nvSpPr>
          <p:cNvPr id="122" name="Google Shape;122;gc6f9e470d_0_37:notes">
            <a:extLst>
              <a:ext uri="{FF2B5EF4-FFF2-40B4-BE49-F238E27FC236}">
                <a16:creationId xmlns:a16="http://schemas.microsoft.com/office/drawing/2014/main" id="{215B7292-EADA-842D-1C48-0A349FD5D6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c6f9e470d_0_37:notes">
            <a:extLst>
              <a:ext uri="{FF2B5EF4-FFF2-40B4-BE49-F238E27FC236}">
                <a16:creationId xmlns:a16="http://schemas.microsoft.com/office/drawing/2014/main" id="{FDF83920-43E6-B99C-53B8-9C98038F10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0456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98147766-3B45-CD79-8B77-5C18E8501DA3}"/>
            </a:ext>
          </a:extLst>
        </p:cNvPr>
        <p:cNvGrpSpPr/>
        <p:nvPr/>
      </p:nvGrpSpPr>
      <p:grpSpPr>
        <a:xfrm>
          <a:off x="0" y="0"/>
          <a:ext cx="0" cy="0"/>
          <a:chOff x="0" y="0"/>
          <a:chExt cx="0" cy="0"/>
        </a:xfrm>
      </p:grpSpPr>
      <p:sp>
        <p:nvSpPr>
          <p:cNvPr id="122" name="Google Shape;122;gc6f9e470d_0_37:notes">
            <a:extLst>
              <a:ext uri="{FF2B5EF4-FFF2-40B4-BE49-F238E27FC236}">
                <a16:creationId xmlns:a16="http://schemas.microsoft.com/office/drawing/2014/main" id="{C22546DC-CE34-17B0-EA0E-82FAB25CAD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c6f9e470d_0_37:notes">
            <a:extLst>
              <a:ext uri="{FF2B5EF4-FFF2-40B4-BE49-F238E27FC236}">
                <a16:creationId xmlns:a16="http://schemas.microsoft.com/office/drawing/2014/main" id="{5D31703A-3393-DA98-CA1C-7A57AAC99F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8120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B2B280E1-37D7-EA12-B697-A1BE44769BE2}"/>
            </a:ext>
          </a:extLst>
        </p:cNvPr>
        <p:cNvGrpSpPr/>
        <p:nvPr/>
      </p:nvGrpSpPr>
      <p:grpSpPr>
        <a:xfrm>
          <a:off x="0" y="0"/>
          <a:ext cx="0" cy="0"/>
          <a:chOff x="0" y="0"/>
          <a:chExt cx="0" cy="0"/>
        </a:xfrm>
      </p:grpSpPr>
      <p:sp>
        <p:nvSpPr>
          <p:cNvPr id="122" name="Google Shape;122;gc6f9e470d_0_37:notes">
            <a:extLst>
              <a:ext uri="{FF2B5EF4-FFF2-40B4-BE49-F238E27FC236}">
                <a16:creationId xmlns:a16="http://schemas.microsoft.com/office/drawing/2014/main" id="{4B55F4B4-7159-500B-2378-856D520F3B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c6f9e470d_0_37:notes">
            <a:extLst>
              <a:ext uri="{FF2B5EF4-FFF2-40B4-BE49-F238E27FC236}">
                <a16:creationId xmlns:a16="http://schemas.microsoft.com/office/drawing/2014/main" id="{1602DFAC-7AC9-3A05-93BE-3AFC9877AF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9251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D9E96D9C-8F98-D473-DD29-6C7F4148A41E}"/>
            </a:ext>
          </a:extLst>
        </p:cNvPr>
        <p:cNvGrpSpPr/>
        <p:nvPr/>
      </p:nvGrpSpPr>
      <p:grpSpPr>
        <a:xfrm>
          <a:off x="0" y="0"/>
          <a:ext cx="0" cy="0"/>
          <a:chOff x="0" y="0"/>
          <a:chExt cx="0" cy="0"/>
        </a:xfrm>
      </p:grpSpPr>
      <p:sp>
        <p:nvSpPr>
          <p:cNvPr id="122" name="Google Shape;122;gc6f9e470d_0_37:notes">
            <a:extLst>
              <a:ext uri="{FF2B5EF4-FFF2-40B4-BE49-F238E27FC236}">
                <a16:creationId xmlns:a16="http://schemas.microsoft.com/office/drawing/2014/main" id="{E4C42E44-2C53-75BB-F6E1-0B76532284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c6f9e470d_0_37:notes">
            <a:extLst>
              <a:ext uri="{FF2B5EF4-FFF2-40B4-BE49-F238E27FC236}">
                <a16:creationId xmlns:a16="http://schemas.microsoft.com/office/drawing/2014/main" id="{7295460F-4474-6A57-DAE8-BC770DA7BB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7466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FAF4A3C3-3B35-500D-DFCC-A94242332FDE}"/>
            </a:ext>
          </a:extLst>
        </p:cNvPr>
        <p:cNvGrpSpPr/>
        <p:nvPr/>
      </p:nvGrpSpPr>
      <p:grpSpPr>
        <a:xfrm>
          <a:off x="0" y="0"/>
          <a:ext cx="0" cy="0"/>
          <a:chOff x="0" y="0"/>
          <a:chExt cx="0" cy="0"/>
        </a:xfrm>
      </p:grpSpPr>
      <p:sp>
        <p:nvSpPr>
          <p:cNvPr id="88" name="Google Shape;88;gc6f9e470d_0_5:notes">
            <a:extLst>
              <a:ext uri="{FF2B5EF4-FFF2-40B4-BE49-F238E27FC236}">
                <a16:creationId xmlns:a16="http://schemas.microsoft.com/office/drawing/2014/main" id="{B92DC981-ABDB-C6A6-9B66-CF7A047194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c6f9e470d_0_5:notes">
            <a:extLst>
              <a:ext uri="{FF2B5EF4-FFF2-40B4-BE49-F238E27FC236}">
                <a16:creationId xmlns:a16="http://schemas.microsoft.com/office/drawing/2014/main" id="{1294E0DF-3BC4-3A0C-834E-9BE700AE6A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5208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hyperlink" Target="https://www.iser.essex.ac.uk/wp-content/uploads/files/working-papers/iser/2014-10.pdf" TargetMode="External"/><Relationship Id="rId7" Type="http://schemas.openxmlformats.org/officeDocument/2006/relationships/hyperlink" Target="https://doi.org/10.1017/s1368980009004911"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hyperlink" Target="https://data.london.gov.uk/dataset/ons-model-based-income-estimates-msoa-e113d/" TargetMode="External"/><Relationship Id="rId5" Type="http://schemas.openxmlformats.org/officeDocument/2006/relationships/hyperlink" Target="https://p-ada-wan.github.io/" TargetMode="External"/><Relationship Id="rId4" Type="http://schemas.openxmlformats.org/officeDocument/2006/relationships/hyperlink" Target="https://doi.org/10.1186/1479-5868-7-7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p>
            <a:r>
              <a:rPr lang="en"/>
              <a:t>Tesco Grocery 1.0 Dataset vs. Household Income</a:t>
            </a:r>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10784"/>
    </mc:Choice>
    <mc:Fallback xmlns="">
      <p:transition spd="slow" advTm="1078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r>
              <a:rPr lang="en" sz="2000"/>
              <a:t>Task 1 - Description of the Dataset </a:t>
            </a:r>
            <a:endParaRPr lang="en" sz="2000" b="1">
              <a:solidFill>
                <a:schemeClr val="tx1"/>
              </a:solidFill>
            </a:endParaRPr>
          </a:p>
          <a:p>
            <a:br>
              <a:rPr lang="en"/>
            </a:br>
            <a:endParaRPr lang="en">
              <a:solidFill>
                <a:srgbClr val="000000"/>
              </a:solidFill>
            </a:endParaRPr>
          </a:p>
          <a:p>
            <a:endParaRPr lang="en"/>
          </a:p>
        </p:txBody>
      </p:sp>
      <p:sp>
        <p:nvSpPr>
          <p:cNvPr id="95" name="Google Shape;95;p14"/>
          <p:cNvSpPr txBox="1">
            <a:spLocks noGrp="1"/>
          </p:cNvSpPr>
          <p:nvPr>
            <p:ph type="body" idx="4294967295"/>
          </p:nvPr>
        </p:nvSpPr>
        <p:spPr>
          <a:xfrm>
            <a:off x="506425" y="1304875"/>
            <a:ext cx="2494500" cy="461400"/>
          </a:xfrm>
          <a:prstGeom prst="rect">
            <a:avLst/>
          </a:prstGeom>
        </p:spPr>
        <p:txBody>
          <a:bodyPr spcFirstLastPara="1" wrap="square" lIns="91425" tIns="91425" rIns="91425" bIns="91425" anchor="t" anchorCtr="0">
            <a:noAutofit/>
          </a:bodyPr>
          <a:lstStyle/>
          <a:p>
            <a:pPr>
              <a:lnSpc>
                <a:spcPct val="114999"/>
              </a:lnSpc>
              <a:buNone/>
            </a:pPr>
            <a:r>
              <a:rPr lang="en">
                <a:solidFill>
                  <a:schemeClr val="lt1"/>
                </a:solidFill>
              </a:rPr>
              <a:t>What does it </a:t>
            </a:r>
            <a:r>
              <a:rPr lang="en" err="1">
                <a:solidFill>
                  <a:schemeClr val="lt1"/>
                </a:solidFill>
              </a:rPr>
              <a:t>contin</a:t>
            </a:r>
            <a:endParaRPr lang="en" err="1">
              <a:solidFill>
                <a:srgbClr val="000000"/>
              </a:solidFill>
            </a:endParaRPr>
          </a:p>
          <a:p>
            <a:pPr marL="0" lvl="0" indent="0" algn="l">
              <a:lnSpc>
                <a:spcPct val="114999"/>
              </a:lnSpc>
              <a:spcBef>
                <a:spcPts val="0"/>
              </a:spcBef>
              <a:spcAft>
                <a:spcPts val="0"/>
              </a:spcAft>
              <a:buNone/>
            </a:pPr>
            <a:endParaRPr lang="en">
              <a:solidFill>
                <a:schemeClr val="lt1"/>
              </a:solidFill>
            </a:endParaRPr>
          </a:p>
        </p:txBody>
      </p:sp>
      <p:sp>
        <p:nvSpPr>
          <p:cNvPr id="96" name="Google Shape;96;p14"/>
          <p:cNvSpPr txBox="1">
            <a:spLocks noGrp="1"/>
          </p:cNvSpPr>
          <p:nvPr>
            <p:ph type="body" idx="4294967295"/>
          </p:nvPr>
        </p:nvSpPr>
        <p:spPr>
          <a:xfrm>
            <a:off x="312812" y="881593"/>
            <a:ext cx="8394126" cy="4007072"/>
          </a:xfrm>
          <a:prstGeom prst="rect">
            <a:avLst/>
          </a:prstGeom>
        </p:spPr>
        <p:txBody>
          <a:bodyPr spcFirstLastPara="1" wrap="square" lIns="91425" tIns="91425" rIns="91425" bIns="91425" anchor="t" anchorCtr="0">
            <a:noAutofit/>
          </a:bodyPr>
          <a:lstStyle/>
          <a:p>
            <a:pPr marL="285750" indent="-285750"/>
            <a:r>
              <a:rPr lang="en" sz="1600"/>
              <a:t>Records purchases by Tesco Clubcard users at each of the different Tesco stores in Greater London in 2015. </a:t>
            </a:r>
            <a:endParaRPr lang="en-US"/>
          </a:p>
          <a:p>
            <a:pPr marL="285750" indent="-285750">
              <a:lnSpc>
                <a:spcPct val="114999"/>
              </a:lnSpc>
            </a:pPr>
            <a:r>
              <a:rPr lang="en" sz="1600"/>
              <a:t>Broken down by month (and collated into a yearly measure) and different regional measures (by borough, ward, MSOA and LSOA). </a:t>
            </a:r>
          </a:p>
          <a:p>
            <a:pPr marL="285750" indent="-285750">
              <a:lnSpc>
                <a:spcPct val="114999"/>
              </a:lnSpc>
            </a:pPr>
            <a:r>
              <a:rPr lang="en" sz="1600"/>
              <a:t>Dataset contains fields related to: location, nutritional statistics, energy (caloric) breakdown, food category breakdowns: proportion of items purchased of a certain product category (by count and by weight), demographics and data quality. </a:t>
            </a:r>
          </a:p>
          <a:p>
            <a:pPr marL="0" indent="0">
              <a:lnSpc>
                <a:spcPct val="114999"/>
              </a:lnSpc>
              <a:buNone/>
            </a:pPr>
            <a:endParaRPr lang="en" sz="1600"/>
          </a:p>
          <a:p>
            <a:pPr marL="0" indent="0">
              <a:lnSpc>
                <a:spcPct val="114999"/>
              </a:lnSpc>
              <a:buNone/>
            </a:pPr>
            <a:r>
              <a:rPr lang="en" sz="1600" b="1"/>
              <a:t>Value of data:</a:t>
            </a:r>
            <a:r>
              <a:rPr lang="en" sz="1600"/>
              <a:t> </a:t>
            </a:r>
          </a:p>
          <a:p>
            <a:pPr marL="285750" indent="-285750">
              <a:lnSpc>
                <a:spcPct val="114999"/>
              </a:lnSpc>
            </a:pPr>
            <a:r>
              <a:rPr lang="en" sz="1600" b="1"/>
              <a:t>Healthcare:</a:t>
            </a:r>
            <a:r>
              <a:rPr lang="en" sz="1600"/>
              <a:t> Data can be used to study how diet affects health outcomes and how deprivation/income affects diet etc. </a:t>
            </a:r>
          </a:p>
          <a:p>
            <a:pPr marL="285750" indent="-285750">
              <a:lnSpc>
                <a:spcPct val="114999"/>
              </a:lnSpc>
            </a:pPr>
            <a:r>
              <a:rPr lang="en" sz="1600"/>
              <a:t>Allows analysis at smaller scale level of LSOA all the way to the borough level --&gt; can see more general and small scale patterns.</a:t>
            </a:r>
            <a:endParaRPr lang="en"/>
          </a:p>
          <a:p>
            <a:pPr marL="285750" indent="-285750">
              <a:lnSpc>
                <a:spcPct val="114999"/>
              </a:lnSpc>
            </a:pPr>
            <a:r>
              <a:rPr lang="en" sz="1600"/>
              <a:t>Monthly data allows temporal analysis of diet, spending etc. </a:t>
            </a:r>
          </a:p>
          <a:p>
            <a:pPr marL="285750" indent="-285750">
              <a:lnSpc>
                <a:spcPct val="114999"/>
              </a:lnSpc>
            </a:pPr>
            <a:endParaRPr lang="en" sz="1600"/>
          </a:p>
          <a:p>
            <a:pPr marL="285750" indent="-285750">
              <a:lnSpc>
                <a:spcPct val="114999"/>
              </a:lnSpc>
            </a:pPr>
            <a:endParaRPr lang="en" sz="1600"/>
          </a:p>
          <a:p>
            <a:pPr marL="0" indent="0">
              <a:lnSpc>
                <a:spcPct val="114999"/>
              </a:lnSpc>
              <a:buNone/>
            </a:pPr>
            <a:endParaRPr lang="en" sz="1600" b="1">
              <a:latin typeface="Trebuchet MS"/>
            </a:endParaRPr>
          </a:p>
          <a:p>
            <a:pPr marL="0" indent="0">
              <a:lnSpc>
                <a:spcPct val="114999"/>
              </a:lnSpc>
              <a:buNone/>
            </a:pPr>
            <a:endParaRPr lang="en" sz="1600">
              <a:latin typeface="Trebuchet MS"/>
            </a:endParaRPr>
          </a:p>
          <a:p>
            <a:pPr marL="0" indent="0">
              <a:lnSpc>
                <a:spcPct val="114999"/>
              </a:lnSpc>
              <a:buNone/>
            </a:pPr>
            <a:endParaRPr lang="en" sz="1600">
              <a:latin typeface="Trebuchet MS"/>
            </a:endParaRPr>
          </a:p>
          <a:p>
            <a:pPr marL="0" indent="0">
              <a:lnSpc>
                <a:spcPct val="114999"/>
              </a:lnSpc>
              <a:buNone/>
            </a:pPr>
            <a:endParaRPr lang="en" sz="1600">
              <a:latin typeface="Trebuchet MS"/>
            </a:endParaRPr>
          </a:p>
        </p:txBody>
      </p:sp>
    </p:spTree>
  </p:cSld>
  <p:clrMapOvr>
    <a:masterClrMapping/>
  </p:clrMapOvr>
  <mc:AlternateContent xmlns:mc="http://schemas.openxmlformats.org/markup-compatibility/2006" xmlns:p14="http://schemas.microsoft.com/office/powerpoint/2010/main">
    <mc:Choice Requires="p14">
      <p:transition spd="slow" p14:dur="2000" advTm="35046"/>
    </mc:Choice>
    <mc:Fallback xmlns="">
      <p:transition spd="slow" advTm="3504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r>
              <a:rPr lang="en" sz="2000"/>
              <a:t>Task 1 - Limitations of the Dataset</a:t>
            </a:r>
            <a:endParaRPr lang="en-US" sz="2000"/>
          </a:p>
        </p:txBody>
      </p:sp>
      <p:sp>
        <p:nvSpPr>
          <p:cNvPr id="112" name="Google Shape;112;p15"/>
          <p:cNvSpPr/>
          <p:nvPr/>
        </p:nvSpPr>
        <p:spPr>
          <a:xfrm>
            <a:off x="432350" y="1126282"/>
            <a:ext cx="2469300" cy="607800"/>
          </a:xfrm>
          <a:prstGeom prst="homePlate">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lang="en-GB">
              <a:latin typeface="Trebuchet MS"/>
            </a:endParaRPr>
          </a:p>
        </p:txBody>
      </p:sp>
      <p:sp>
        <p:nvSpPr>
          <p:cNvPr id="113" name="Google Shape;113;p15"/>
          <p:cNvSpPr txBox="1">
            <a:spLocks noGrp="1"/>
          </p:cNvSpPr>
          <p:nvPr>
            <p:ph type="body" idx="4294967295"/>
          </p:nvPr>
        </p:nvSpPr>
        <p:spPr>
          <a:xfrm>
            <a:off x="432350" y="1272983"/>
            <a:ext cx="2257200" cy="314400"/>
          </a:xfrm>
          <a:prstGeom prst="rect">
            <a:avLst/>
          </a:prstGeom>
        </p:spPr>
        <p:txBody>
          <a:bodyPr spcFirstLastPara="1" wrap="square" lIns="91425" tIns="91425" rIns="91425" bIns="91425" anchor="ctr" anchorCtr="0">
            <a:noAutofit/>
          </a:bodyPr>
          <a:lstStyle/>
          <a:p>
            <a:pPr marL="0" indent="0">
              <a:lnSpc>
                <a:spcPct val="100000"/>
              </a:lnSpc>
              <a:buNone/>
            </a:pPr>
            <a:r>
              <a:rPr lang="en">
                <a:solidFill>
                  <a:schemeClr val="lt1"/>
                </a:solidFill>
              </a:rPr>
              <a:t>Limitation 1</a:t>
            </a:r>
            <a:endParaRPr lang="en-US">
              <a:solidFill>
                <a:schemeClr val="lt1"/>
              </a:solidFill>
            </a:endParaRPr>
          </a:p>
        </p:txBody>
      </p:sp>
      <p:sp>
        <p:nvSpPr>
          <p:cNvPr id="114" name="Google Shape;114;p15"/>
          <p:cNvSpPr txBox="1">
            <a:spLocks noGrp="1"/>
          </p:cNvSpPr>
          <p:nvPr>
            <p:ph type="body" idx="4294967295"/>
          </p:nvPr>
        </p:nvSpPr>
        <p:spPr>
          <a:xfrm>
            <a:off x="432350" y="1880075"/>
            <a:ext cx="4692137" cy="3261265"/>
          </a:xfrm>
          <a:prstGeom prst="rect">
            <a:avLst/>
          </a:prstGeom>
        </p:spPr>
        <p:txBody>
          <a:bodyPr spcFirstLastPara="1" wrap="square" lIns="91425" tIns="91425" rIns="91425" bIns="91425" anchor="t" anchorCtr="0">
            <a:noAutofit/>
          </a:bodyPr>
          <a:lstStyle/>
          <a:p>
            <a:pPr marL="0" indent="0">
              <a:lnSpc>
                <a:spcPct val="114999"/>
              </a:lnSpc>
              <a:buNone/>
            </a:pPr>
            <a:r>
              <a:rPr lang="en" sz="1600" b="1"/>
              <a:t>Tesco Clubcard users</a:t>
            </a:r>
            <a:endParaRPr lang="en-US"/>
          </a:p>
          <a:p>
            <a:pPr marL="285750" indent="-285750">
              <a:lnSpc>
                <a:spcPct val="114999"/>
              </a:lnSpc>
              <a:spcBef>
                <a:spcPts val="800"/>
              </a:spcBef>
              <a:spcAft>
                <a:spcPts val="800"/>
              </a:spcAft>
            </a:pPr>
            <a:r>
              <a:rPr lang="en" sz="1600"/>
              <a:t>Dataset only consists of purchases made by Tesco Clubcard users. Might not be representative of all Tesco customers or all supermarket customers in general.  </a:t>
            </a:r>
            <a:endParaRPr lang="en"/>
          </a:p>
          <a:p>
            <a:pPr marL="285750" indent="-285750">
              <a:lnSpc>
                <a:spcPct val="114999"/>
              </a:lnSpc>
              <a:spcBef>
                <a:spcPts val="800"/>
              </a:spcBef>
              <a:spcAft>
                <a:spcPts val="800"/>
              </a:spcAft>
            </a:pPr>
            <a:r>
              <a:rPr lang="en" sz="1600"/>
              <a:t>Self-selection bias: Tesco Clubcard is an opt-in free loyalty program. Might be more likely to be used by price sensitive consumers, older people families etc. and not by perhaps wealthy people, younger people etc.  </a:t>
            </a:r>
            <a:r>
              <a:rPr lang="en" sz="1600">
                <a:latin typeface="Trebuchet MS"/>
              </a:rPr>
              <a:t>                                     </a:t>
            </a:r>
            <a:endParaRPr lang="en" sz="1600">
              <a:solidFill>
                <a:srgbClr val="434343"/>
              </a:solidFill>
              <a:latin typeface="Trebuchet MS"/>
            </a:endParaRPr>
          </a:p>
          <a:p>
            <a:pPr marL="0" indent="0">
              <a:lnSpc>
                <a:spcPct val="114999"/>
              </a:lnSpc>
              <a:spcBef>
                <a:spcPts val="800"/>
              </a:spcBef>
              <a:spcAft>
                <a:spcPts val="800"/>
              </a:spcAft>
              <a:buNone/>
            </a:pPr>
            <a:endParaRPr lang="en" sz="1600">
              <a:latin typeface="Trebuchet MS"/>
            </a:endParaRPr>
          </a:p>
        </p:txBody>
      </p:sp>
      <p:sp>
        <p:nvSpPr>
          <p:cNvPr id="115" name="Google Shape;115;p15"/>
          <p:cNvSpPr/>
          <p:nvPr/>
        </p:nvSpPr>
        <p:spPr>
          <a:xfrm>
            <a:off x="5448139" y="1126282"/>
            <a:ext cx="27606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lang="en-GB">
              <a:latin typeface="Trebuchet MS"/>
            </a:endParaRPr>
          </a:p>
        </p:txBody>
      </p:sp>
      <p:sp>
        <p:nvSpPr>
          <p:cNvPr id="116" name="Google Shape;116;p15"/>
          <p:cNvSpPr txBox="1">
            <a:spLocks noGrp="1"/>
          </p:cNvSpPr>
          <p:nvPr>
            <p:ph type="body" idx="4294967295"/>
          </p:nvPr>
        </p:nvSpPr>
        <p:spPr>
          <a:xfrm>
            <a:off x="5775230" y="1272983"/>
            <a:ext cx="2257200" cy="314400"/>
          </a:xfrm>
          <a:prstGeom prst="rect">
            <a:avLst/>
          </a:prstGeom>
        </p:spPr>
        <p:txBody>
          <a:bodyPr spcFirstLastPara="1" wrap="square" lIns="91425" tIns="91425" rIns="91425" bIns="91425" anchor="ctr" anchorCtr="0">
            <a:noAutofit/>
          </a:bodyPr>
          <a:lstStyle/>
          <a:p>
            <a:pPr marL="0" indent="0">
              <a:lnSpc>
                <a:spcPct val="100000"/>
              </a:lnSpc>
              <a:buNone/>
            </a:pPr>
            <a:r>
              <a:rPr lang="en-GB">
                <a:solidFill>
                  <a:schemeClr val="lt1"/>
                </a:solidFill>
              </a:rPr>
              <a:t>Limitation 2</a:t>
            </a:r>
          </a:p>
        </p:txBody>
      </p:sp>
      <p:sp>
        <p:nvSpPr>
          <p:cNvPr id="120" name="Google Shape;120;p15"/>
          <p:cNvSpPr txBox="1">
            <a:spLocks noGrp="1"/>
          </p:cNvSpPr>
          <p:nvPr>
            <p:ph type="body" idx="4294967295"/>
          </p:nvPr>
        </p:nvSpPr>
        <p:spPr>
          <a:xfrm>
            <a:off x="5126532" y="1880074"/>
            <a:ext cx="3774274" cy="2834806"/>
          </a:xfrm>
          <a:prstGeom prst="rect">
            <a:avLst/>
          </a:prstGeom>
        </p:spPr>
        <p:txBody>
          <a:bodyPr spcFirstLastPara="1" wrap="square" lIns="91425" tIns="91425" rIns="91425" bIns="91425" anchor="t" anchorCtr="0">
            <a:noAutofit/>
          </a:bodyPr>
          <a:lstStyle/>
          <a:p>
            <a:pPr>
              <a:lnSpc>
                <a:spcPct val="114999"/>
              </a:lnSpc>
              <a:buNone/>
            </a:pPr>
            <a:r>
              <a:rPr lang="en" sz="1600" b="1"/>
              <a:t>Concentration of Tesco stores</a:t>
            </a:r>
            <a:endParaRPr lang="en-US"/>
          </a:p>
          <a:p>
            <a:pPr marL="285750" indent="-285750">
              <a:lnSpc>
                <a:spcPct val="114999"/>
              </a:lnSpc>
              <a:spcBef>
                <a:spcPts val="800"/>
              </a:spcBef>
              <a:spcAft>
                <a:spcPts val="800"/>
              </a:spcAft>
            </a:pPr>
            <a:r>
              <a:rPr lang="en" sz="1600"/>
              <a:t>Concentration of Tesco stores is higher in North London: less representative of spending habits for some regions like Kingston upon Thames (representativeness norm = 0). </a:t>
            </a:r>
          </a:p>
        </p:txBody>
      </p:sp>
    </p:spTree>
  </p:cSld>
  <p:clrMapOvr>
    <a:masterClrMapping/>
  </p:clrMapOvr>
  <mc:AlternateContent xmlns:mc="http://schemas.openxmlformats.org/markup-compatibility/2006" xmlns:p14="http://schemas.microsoft.com/office/powerpoint/2010/main">
    <mc:Choice Requires="p14">
      <p:transition spd="slow" p14:dur="2000" advTm="28825"/>
    </mc:Choice>
    <mc:Fallback xmlns="">
      <p:transition spd="slow" advTm="2882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C738D3D5-3F61-0C3D-EBF6-7D3CA2D85A4A}"/>
            </a:ext>
          </a:extLst>
        </p:cNvPr>
        <p:cNvGrpSpPr/>
        <p:nvPr/>
      </p:nvGrpSpPr>
      <p:grpSpPr>
        <a:xfrm>
          <a:off x="0" y="0"/>
          <a:ext cx="0" cy="0"/>
          <a:chOff x="0" y="0"/>
          <a:chExt cx="0" cy="0"/>
        </a:xfrm>
      </p:grpSpPr>
      <p:sp>
        <p:nvSpPr>
          <p:cNvPr id="111" name="Google Shape;111;p15">
            <a:extLst>
              <a:ext uri="{FF2B5EF4-FFF2-40B4-BE49-F238E27FC236}">
                <a16:creationId xmlns:a16="http://schemas.microsoft.com/office/drawing/2014/main" id="{7D40DE8B-4944-5B3E-3489-2B92C712370E}"/>
              </a:ext>
            </a:extLst>
          </p:cNvPr>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r>
              <a:rPr lang="en" sz="2000"/>
              <a:t>Task 1 - Limitations of the Dataset</a:t>
            </a:r>
            <a:endParaRPr lang="en-US" sz="2000"/>
          </a:p>
        </p:txBody>
      </p:sp>
      <p:sp>
        <p:nvSpPr>
          <p:cNvPr id="112" name="Google Shape;112;p15">
            <a:extLst>
              <a:ext uri="{FF2B5EF4-FFF2-40B4-BE49-F238E27FC236}">
                <a16:creationId xmlns:a16="http://schemas.microsoft.com/office/drawing/2014/main" id="{A916F490-A7F7-F36D-B0C0-7ACBFDAA62CE}"/>
              </a:ext>
            </a:extLst>
          </p:cNvPr>
          <p:cNvSpPr/>
          <p:nvPr/>
        </p:nvSpPr>
        <p:spPr>
          <a:xfrm>
            <a:off x="432350" y="1126282"/>
            <a:ext cx="2469300" cy="607800"/>
          </a:xfrm>
          <a:prstGeom prst="homePlate">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13" name="Google Shape;113;p15">
            <a:extLst>
              <a:ext uri="{FF2B5EF4-FFF2-40B4-BE49-F238E27FC236}">
                <a16:creationId xmlns:a16="http://schemas.microsoft.com/office/drawing/2014/main" id="{8DA2AD67-195C-A97B-DDEB-FBE50E0A2CF3}"/>
              </a:ext>
            </a:extLst>
          </p:cNvPr>
          <p:cNvSpPr txBox="1">
            <a:spLocks noGrp="1"/>
          </p:cNvSpPr>
          <p:nvPr>
            <p:ph type="body" idx="4294967295"/>
          </p:nvPr>
        </p:nvSpPr>
        <p:spPr>
          <a:xfrm>
            <a:off x="432350" y="1272983"/>
            <a:ext cx="2257200" cy="314400"/>
          </a:xfrm>
          <a:prstGeom prst="rect">
            <a:avLst/>
          </a:prstGeom>
        </p:spPr>
        <p:txBody>
          <a:bodyPr spcFirstLastPara="1" wrap="square" lIns="91425" tIns="91425" rIns="91425" bIns="91425" anchor="ctr" anchorCtr="0">
            <a:noAutofit/>
          </a:bodyPr>
          <a:lstStyle/>
          <a:p>
            <a:pPr marL="0" indent="0">
              <a:lnSpc>
                <a:spcPct val="100000"/>
              </a:lnSpc>
              <a:buNone/>
            </a:pPr>
            <a:r>
              <a:rPr lang="en">
                <a:solidFill>
                  <a:schemeClr val="lt1"/>
                </a:solidFill>
              </a:rPr>
              <a:t>Limitation 3</a:t>
            </a:r>
            <a:endParaRPr lang="en-US"/>
          </a:p>
        </p:txBody>
      </p:sp>
      <p:sp>
        <p:nvSpPr>
          <p:cNvPr id="114" name="Google Shape;114;p15">
            <a:extLst>
              <a:ext uri="{FF2B5EF4-FFF2-40B4-BE49-F238E27FC236}">
                <a16:creationId xmlns:a16="http://schemas.microsoft.com/office/drawing/2014/main" id="{8B693785-EB4B-0081-9803-C8B8F0ACFD5B}"/>
              </a:ext>
            </a:extLst>
          </p:cNvPr>
          <p:cNvSpPr txBox="1">
            <a:spLocks noGrp="1"/>
          </p:cNvSpPr>
          <p:nvPr>
            <p:ph type="body" idx="4294967295"/>
          </p:nvPr>
        </p:nvSpPr>
        <p:spPr>
          <a:xfrm>
            <a:off x="423691" y="1884405"/>
            <a:ext cx="4267842" cy="2650800"/>
          </a:xfrm>
          <a:prstGeom prst="rect">
            <a:avLst/>
          </a:prstGeom>
        </p:spPr>
        <p:txBody>
          <a:bodyPr spcFirstLastPara="1" wrap="square" lIns="91425" tIns="91425" rIns="91425" bIns="91425" anchor="t" anchorCtr="0">
            <a:noAutofit/>
          </a:bodyPr>
          <a:lstStyle/>
          <a:p>
            <a:pPr marL="0" indent="0">
              <a:lnSpc>
                <a:spcPct val="114999"/>
              </a:lnSpc>
              <a:buNone/>
            </a:pPr>
            <a:r>
              <a:rPr lang="en" sz="1600" b="1"/>
              <a:t>Trends amongst individuals</a:t>
            </a:r>
          </a:p>
          <a:p>
            <a:pPr marL="285750" indent="-285750">
              <a:lnSpc>
                <a:spcPct val="114999"/>
              </a:lnSpc>
              <a:spcBef>
                <a:spcPts val="800"/>
              </a:spcBef>
              <a:spcAft>
                <a:spcPts val="800"/>
              </a:spcAft>
            </a:pPr>
            <a:r>
              <a:rPr lang="en" sz="1600"/>
              <a:t>Analysis of individuals is not possible, only by region:  data is provided at a regional level.</a:t>
            </a:r>
            <a:endParaRPr lang="en"/>
          </a:p>
          <a:p>
            <a:pPr marL="0" indent="0">
              <a:lnSpc>
                <a:spcPct val="114999"/>
              </a:lnSpc>
              <a:spcBef>
                <a:spcPts val="800"/>
              </a:spcBef>
              <a:spcAft>
                <a:spcPts val="800"/>
              </a:spcAft>
              <a:buNone/>
            </a:pPr>
            <a:endParaRPr lang="en">
              <a:solidFill>
                <a:srgbClr val="434343"/>
              </a:solidFill>
            </a:endParaRPr>
          </a:p>
          <a:p>
            <a:pPr marL="0" indent="0">
              <a:lnSpc>
                <a:spcPct val="114999"/>
              </a:lnSpc>
              <a:spcBef>
                <a:spcPts val="800"/>
              </a:spcBef>
              <a:spcAft>
                <a:spcPts val="800"/>
              </a:spcAft>
              <a:buNone/>
            </a:pPr>
            <a:endParaRPr lang="en" sz="1600">
              <a:solidFill>
                <a:srgbClr val="434343"/>
              </a:solidFill>
            </a:endParaRPr>
          </a:p>
        </p:txBody>
      </p:sp>
      <p:sp>
        <p:nvSpPr>
          <p:cNvPr id="115" name="Google Shape;115;p15">
            <a:extLst>
              <a:ext uri="{FF2B5EF4-FFF2-40B4-BE49-F238E27FC236}">
                <a16:creationId xmlns:a16="http://schemas.microsoft.com/office/drawing/2014/main" id="{7644E362-9FCC-0EEA-3C8A-EE40545220AF}"/>
              </a:ext>
            </a:extLst>
          </p:cNvPr>
          <p:cNvSpPr/>
          <p:nvPr/>
        </p:nvSpPr>
        <p:spPr>
          <a:xfrm>
            <a:off x="5448139" y="1126282"/>
            <a:ext cx="27606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16" name="Google Shape;116;p15">
            <a:extLst>
              <a:ext uri="{FF2B5EF4-FFF2-40B4-BE49-F238E27FC236}">
                <a16:creationId xmlns:a16="http://schemas.microsoft.com/office/drawing/2014/main" id="{D1AEF89A-0907-885E-0C26-84D962DC6C29}"/>
              </a:ext>
            </a:extLst>
          </p:cNvPr>
          <p:cNvSpPr txBox="1">
            <a:spLocks noGrp="1"/>
          </p:cNvSpPr>
          <p:nvPr>
            <p:ph type="body" idx="4294967295"/>
          </p:nvPr>
        </p:nvSpPr>
        <p:spPr>
          <a:xfrm>
            <a:off x="5775230" y="1272983"/>
            <a:ext cx="2257200" cy="314400"/>
          </a:xfrm>
          <a:prstGeom prst="rect">
            <a:avLst/>
          </a:prstGeom>
        </p:spPr>
        <p:txBody>
          <a:bodyPr spcFirstLastPara="1" wrap="square" lIns="91425" tIns="91425" rIns="91425" bIns="91425" anchor="ctr" anchorCtr="0">
            <a:noAutofit/>
          </a:bodyPr>
          <a:lstStyle/>
          <a:p>
            <a:pPr marL="0" indent="0">
              <a:lnSpc>
                <a:spcPct val="100000"/>
              </a:lnSpc>
              <a:buNone/>
            </a:pPr>
            <a:r>
              <a:rPr lang="en">
                <a:solidFill>
                  <a:schemeClr val="lt1"/>
                </a:solidFill>
              </a:rPr>
              <a:t>Limitation 4</a:t>
            </a:r>
            <a:endParaRPr>
              <a:solidFill>
                <a:schemeClr val="lt1"/>
              </a:solidFill>
            </a:endParaRPr>
          </a:p>
        </p:txBody>
      </p:sp>
      <p:sp>
        <p:nvSpPr>
          <p:cNvPr id="120" name="Google Shape;120;p15">
            <a:extLst>
              <a:ext uri="{FF2B5EF4-FFF2-40B4-BE49-F238E27FC236}">
                <a16:creationId xmlns:a16="http://schemas.microsoft.com/office/drawing/2014/main" id="{BC605AAC-B84C-4132-B1D6-AE0047367608}"/>
              </a:ext>
            </a:extLst>
          </p:cNvPr>
          <p:cNvSpPr txBox="1">
            <a:spLocks noGrp="1"/>
          </p:cNvSpPr>
          <p:nvPr>
            <p:ph type="body" idx="4294967295"/>
          </p:nvPr>
        </p:nvSpPr>
        <p:spPr>
          <a:xfrm>
            <a:off x="4767181" y="1884404"/>
            <a:ext cx="4267842" cy="2865113"/>
          </a:xfrm>
          <a:prstGeom prst="rect">
            <a:avLst/>
          </a:prstGeom>
        </p:spPr>
        <p:txBody>
          <a:bodyPr spcFirstLastPara="1" wrap="square" lIns="91425" tIns="91425" rIns="91425" bIns="91425" anchor="t" anchorCtr="0">
            <a:noAutofit/>
          </a:bodyPr>
          <a:lstStyle/>
          <a:p>
            <a:pPr>
              <a:lnSpc>
                <a:spcPct val="114999"/>
              </a:lnSpc>
              <a:buNone/>
            </a:pPr>
            <a:r>
              <a:rPr lang="en" sz="1600" b="1"/>
              <a:t>Broad Product Categories</a:t>
            </a:r>
            <a:endParaRPr lang="en" sz="1600"/>
          </a:p>
          <a:p>
            <a:pPr>
              <a:lnSpc>
                <a:spcPct val="114999"/>
              </a:lnSpc>
            </a:pPr>
            <a:r>
              <a:rPr lang="en" sz="1600"/>
              <a:t>Over 67,000 distinct products are condensed into just 17 product categories.</a:t>
            </a:r>
          </a:p>
          <a:p>
            <a:pPr>
              <a:lnSpc>
                <a:spcPct val="114999"/>
              </a:lnSpc>
            </a:pPr>
            <a:r>
              <a:rPr lang="en" sz="1600"/>
              <a:t>Categories might be too vague: is a readymade item a healthy salad or a pizza? Data could hide certain trends e.g. veganism, rise in unhealthy processed foods etc. </a:t>
            </a:r>
          </a:p>
        </p:txBody>
      </p:sp>
    </p:spTree>
    <p:extLst>
      <p:ext uri="{BB962C8B-B14F-4D97-AF65-F5344CB8AC3E}">
        <p14:creationId xmlns:p14="http://schemas.microsoft.com/office/powerpoint/2010/main" val="34831068"/>
      </p:ext>
    </p:extLst>
  </p:cSld>
  <p:clrMapOvr>
    <a:masterClrMapping/>
  </p:clrMapOvr>
  <mc:AlternateContent xmlns:mc="http://schemas.openxmlformats.org/markup-compatibility/2006" xmlns:p14="http://schemas.microsoft.com/office/powerpoint/2010/main">
    <mc:Choice Requires="p14">
      <p:transition spd="slow" p14:dur="2000" advTm="18684"/>
    </mc:Choice>
    <mc:Fallback xmlns="">
      <p:transition spd="slow" advTm="18684"/>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757B5-9895-9ED7-55C5-5114E69279BD}"/>
              </a:ext>
            </a:extLst>
          </p:cNvPr>
          <p:cNvSpPr>
            <a:spLocks noGrp="1"/>
          </p:cNvSpPr>
          <p:nvPr>
            <p:ph type="title"/>
          </p:nvPr>
        </p:nvSpPr>
        <p:spPr>
          <a:xfrm>
            <a:off x="221478" y="0"/>
            <a:ext cx="8222100" cy="548640"/>
          </a:xfrm>
          <a:noFill/>
        </p:spPr>
        <p:txBody>
          <a:bodyPr/>
          <a:lstStyle/>
          <a:p>
            <a:r>
              <a:rPr lang="en-US" sz="2000">
                <a:solidFill>
                  <a:schemeClr val="tx1"/>
                </a:solidFill>
              </a:rPr>
              <a:t>Insight 1- Seasonality Trends on Wards Level</a:t>
            </a:r>
          </a:p>
        </p:txBody>
      </p:sp>
      <p:grpSp>
        <p:nvGrpSpPr>
          <p:cNvPr id="5" name="Group 4">
            <a:extLst>
              <a:ext uri="{FF2B5EF4-FFF2-40B4-BE49-F238E27FC236}">
                <a16:creationId xmlns:a16="http://schemas.microsoft.com/office/drawing/2014/main" id="{5573AD0D-795A-498A-9B20-65FADA499648}"/>
              </a:ext>
            </a:extLst>
          </p:cNvPr>
          <p:cNvGrpSpPr/>
          <p:nvPr/>
        </p:nvGrpSpPr>
        <p:grpSpPr>
          <a:xfrm>
            <a:off x="144838" y="3804113"/>
            <a:ext cx="1845432" cy="1758337"/>
            <a:chOff x="6239021" y="1020718"/>
            <a:chExt cx="1845432" cy="1976415"/>
          </a:xfrm>
        </p:grpSpPr>
        <p:sp>
          <p:nvSpPr>
            <p:cNvPr id="6" name="Rectangle: Rounded Corners 23">
              <a:extLst>
                <a:ext uri="{FF2B5EF4-FFF2-40B4-BE49-F238E27FC236}">
                  <a16:creationId xmlns:a16="http://schemas.microsoft.com/office/drawing/2014/main" id="{97164944-19C4-E689-70E6-41C5F0B849B8}"/>
                </a:ext>
              </a:extLst>
            </p:cNvPr>
            <p:cNvSpPr/>
            <p:nvPr/>
          </p:nvSpPr>
          <p:spPr>
            <a:xfrm>
              <a:off x="6338278" y="1020718"/>
              <a:ext cx="924529" cy="419424"/>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latin typeface="Roboto" panose="02000000000000000000" pitchFamily="2" charset="0"/>
                  <a:ea typeface="Roboto" panose="02000000000000000000" pitchFamily="2" charset="0"/>
                  <a:cs typeface="Roboto" panose="02000000000000000000" pitchFamily="2" charset="0"/>
                </a:rPr>
                <a:t>+203% Spirits</a:t>
              </a:r>
            </a:p>
          </p:txBody>
        </p:sp>
        <p:sp>
          <p:nvSpPr>
            <p:cNvPr id="7" name="TextBox 6">
              <a:extLst>
                <a:ext uri="{FF2B5EF4-FFF2-40B4-BE49-F238E27FC236}">
                  <a16:creationId xmlns:a16="http://schemas.microsoft.com/office/drawing/2014/main" id="{85412874-B205-8CC9-69ED-4AF4049737C6}"/>
                </a:ext>
              </a:extLst>
            </p:cNvPr>
            <p:cNvSpPr txBox="1"/>
            <p:nvPr/>
          </p:nvSpPr>
          <p:spPr>
            <a:xfrm>
              <a:off x="6239021" y="1474959"/>
              <a:ext cx="1845432" cy="1522174"/>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buNone/>
              </a:pPr>
              <a:r>
                <a:rPr lang="en-GB" sz="1000" b="0" i="0">
                  <a:solidFill>
                    <a:schemeClr val="bg2">
                      <a:lumMod val="50000"/>
                    </a:schemeClr>
                  </a:solidFill>
                  <a:effectLst/>
                  <a:latin typeface="Roboto"/>
                  <a:ea typeface="Roboto"/>
                  <a:cs typeface="Roboto"/>
                </a:rPr>
                <a:t>Sharpest seasonal swing across all categories. Sales nearly triple the annual average in December.</a:t>
              </a:r>
            </a:p>
            <a:p>
              <a:pPr algn="l"/>
              <a:br>
                <a:rPr lang="en-GB" b="0" i="0">
                  <a:effectLst/>
                  <a:latin typeface="Anthropic Sans"/>
                </a:rPr>
              </a:br>
              <a:endParaRPr lang="en-GB" b="0" i="0">
                <a:solidFill>
                  <a:srgbClr val="FFFFFF"/>
                </a:solidFill>
                <a:effectLst/>
                <a:latin typeface="Anthropic Sans"/>
              </a:endParaRPr>
            </a:p>
            <a:p>
              <a:endParaRPr lang="en-US">
                <a:solidFill>
                  <a:schemeClr val="bg1"/>
                </a:solidFill>
                <a:ea typeface="Calibri"/>
              </a:endParaRPr>
            </a:p>
          </p:txBody>
        </p:sp>
      </p:grpSp>
      <p:grpSp>
        <p:nvGrpSpPr>
          <p:cNvPr id="8" name="Group 7">
            <a:extLst>
              <a:ext uri="{FF2B5EF4-FFF2-40B4-BE49-F238E27FC236}">
                <a16:creationId xmlns:a16="http://schemas.microsoft.com/office/drawing/2014/main" id="{D975BFBE-6120-3AD5-C6E2-0CD9B28B8A32}"/>
              </a:ext>
            </a:extLst>
          </p:cNvPr>
          <p:cNvGrpSpPr/>
          <p:nvPr/>
        </p:nvGrpSpPr>
        <p:grpSpPr>
          <a:xfrm>
            <a:off x="1884256" y="3808821"/>
            <a:ext cx="1653380" cy="1705528"/>
            <a:chOff x="6244762" y="1020718"/>
            <a:chExt cx="1653380" cy="1917057"/>
          </a:xfrm>
        </p:grpSpPr>
        <p:sp>
          <p:nvSpPr>
            <p:cNvPr id="9" name="Rectangle: Rounded Corners 23">
              <a:extLst>
                <a:ext uri="{FF2B5EF4-FFF2-40B4-BE49-F238E27FC236}">
                  <a16:creationId xmlns:a16="http://schemas.microsoft.com/office/drawing/2014/main" id="{26735BD4-A1FE-584F-E0CA-88AE2C7EFF28}"/>
                </a:ext>
              </a:extLst>
            </p:cNvPr>
            <p:cNvSpPr/>
            <p:nvPr/>
          </p:nvSpPr>
          <p:spPr>
            <a:xfrm>
              <a:off x="6338278" y="1020718"/>
              <a:ext cx="924529" cy="419424"/>
            </a:xfrm>
            <a:prstGeom prst="roundRect">
              <a:avLst/>
            </a:prstGeom>
            <a:solidFill>
              <a:srgbClr val="FF6B6B"/>
            </a:solidFill>
            <a:ln>
              <a:solidFill>
                <a:srgbClr val="FF6B6B"/>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latin typeface="Roboto" panose="02000000000000000000" pitchFamily="2" charset="0"/>
                  <a:ea typeface="Roboto" panose="02000000000000000000" pitchFamily="2" charset="0"/>
                  <a:cs typeface="Roboto" panose="02000000000000000000" pitchFamily="2" charset="0"/>
                </a:rPr>
                <a:t>+91% Beer</a:t>
              </a:r>
            </a:p>
          </p:txBody>
        </p:sp>
        <p:sp>
          <p:nvSpPr>
            <p:cNvPr id="10" name="TextBox 9">
              <a:extLst>
                <a:ext uri="{FF2B5EF4-FFF2-40B4-BE49-F238E27FC236}">
                  <a16:creationId xmlns:a16="http://schemas.microsoft.com/office/drawing/2014/main" id="{4AD2FC06-672F-EABE-E590-A4FC3FDE322D}"/>
                </a:ext>
              </a:extLst>
            </p:cNvPr>
            <p:cNvSpPr txBox="1"/>
            <p:nvPr/>
          </p:nvSpPr>
          <p:spPr>
            <a:xfrm>
              <a:off x="6244762" y="1484790"/>
              <a:ext cx="1653380" cy="145298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0" i="0">
                  <a:solidFill>
                    <a:schemeClr val="bg2">
                      <a:lumMod val="50000"/>
                    </a:schemeClr>
                  </a:solidFill>
                  <a:effectLst/>
                  <a:latin typeface="Roboto"/>
                  <a:ea typeface="Roboto"/>
                  <a:cs typeface="Roboto"/>
                </a:rPr>
                <a:t>The only category with its highest index point</a:t>
              </a:r>
              <a:r>
                <a:rPr lang="en-GB" sz="1000">
                  <a:solidFill>
                    <a:schemeClr val="bg2">
                      <a:lumMod val="50000"/>
                    </a:schemeClr>
                  </a:solidFill>
                  <a:latin typeface="Roboto"/>
                  <a:ea typeface="Roboto"/>
                  <a:cs typeface="Roboto"/>
                </a:rPr>
                <a:t> </a:t>
              </a:r>
              <a:r>
                <a:rPr lang="en-GB" sz="1000">
                  <a:solidFill>
                    <a:schemeClr val="bg2">
                      <a:lumMod val="50000"/>
                    </a:schemeClr>
                  </a:solidFill>
                  <a:ea typeface="Roboto"/>
                </a:rPr>
                <a:t>during the summer defying the typical winter-dominant trend.</a:t>
              </a:r>
              <a:br>
                <a:rPr lang="en-GB" b="0" i="0">
                  <a:effectLst/>
                  <a:latin typeface="Roboto"/>
                  <a:ea typeface="Roboto"/>
                  <a:cs typeface="Roboto"/>
                </a:rPr>
              </a:br>
              <a:endParaRPr lang="en-GB" b="0" i="0">
                <a:solidFill>
                  <a:srgbClr val="FFFFFF"/>
                </a:solidFill>
                <a:effectLst/>
                <a:latin typeface="Roboto"/>
                <a:ea typeface="Roboto"/>
                <a:cs typeface="Roboto"/>
              </a:endParaRPr>
            </a:p>
            <a:p>
              <a:endParaRPr lang="en-US">
                <a:solidFill>
                  <a:schemeClr val="bg1"/>
                </a:solidFill>
                <a:ea typeface="Calibri"/>
              </a:endParaRPr>
            </a:p>
          </p:txBody>
        </p:sp>
      </p:grpSp>
      <p:grpSp>
        <p:nvGrpSpPr>
          <p:cNvPr id="11" name="Group 10">
            <a:extLst>
              <a:ext uri="{FF2B5EF4-FFF2-40B4-BE49-F238E27FC236}">
                <a16:creationId xmlns:a16="http://schemas.microsoft.com/office/drawing/2014/main" id="{86D54CFA-07F5-C40D-F569-E07327B462CA}"/>
              </a:ext>
            </a:extLst>
          </p:cNvPr>
          <p:cNvGrpSpPr/>
          <p:nvPr/>
        </p:nvGrpSpPr>
        <p:grpSpPr>
          <a:xfrm>
            <a:off x="3729650" y="3773575"/>
            <a:ext cx="1690695" cy="1825798"/>
            <a:chOff x="6244762" y="1020718"/>
            <a:chExt cx="1690695" cy="2052243"/>
          </a:xfrm>
        </p:grpSpPr>
        <p:sp>
          <p:nvSpPr>
            <p:cNvPr id="12" name="Rectangle: Rounded Corners 23">
              <a:extLst>
                <a:ext uri="{FF2B5EF4-FFF2-40B4-BE49-F238E27FC236}">
                  <a16:creationId xmlns:a16="http://schemas.microsoft.com/office/drawing/2014/main" id="{9170AD43-6841-6624-A720-7006A6510BD2}"/>
                </a:ext>
              </a:extLst>
            </p:cNvPr>
            <p:cNvSpPr/>
            <p:nvPr/>
          </p:nvSpPr>
          <p:spPr>
            <a:xfrm>
              <a:off x="6338278" y="1020718"/>
              <a:ext cx="924529" cy="419424"/>
            </a:xfrm>
            <a:prstGeom prst="roundRect">
              <a:avLst/>
            </a:prstGeom>
            <a:solidFill>
              <a:srgbClr val="FA2585"/>
            </a:solidFill>
            <a:ln>
              <a:solidFill>
                <a:srgbClr val="FA2585"/>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latin typeface="Roboto" panose="02000000000000000000" pitchFamily="2" charset="0"/>
                  <a:ea typeface="Roboto" panose="02000000000000000000" pitchFamily="2" charset="0"/>
                  <a:cs typeface="Roboto" panose="02000000000000000000" pitchFamily="2" charset="0"/>
                </a:rPr>
                <a:t>+79% Wine</a:t>
              </a:r>
            </a:p>
          </p:txBody>
        </p:sp>
        <p:sp>
          <p:nvSpPr>
            <p:cNvPr id="13" name="TextBox 12">
              <a:extLst>
                <a:ext uri="{FF2B5EF4-FFF2-40B4-BE49-F238E27FC236}">
                  <a16:creationId xmlns:a16="http://schemas.microsoft.com/office/drawing/2014/main" id="{AE58F811-C53C-FFCD-60C1-4D4419B8849F}"/>
                </a:ext>
              </a:extLst>
            </p:cNvPr>
            <p:cNvSpPr txBox="1"/>
            <p:nvPr/>
          </p:nvSpPr>
          <p:spPr>
            <a:xfrm>
              <a:off x="6244762" y="1447002"/>
              <a:ext cx="1690695" cy="1625959"/>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latin typeface="Roboto"/>
                  <a:ea typeface="Roboto"/>
                  <a:cs typeface="Roboto"/>
                </a:rPr>
                <a:t>Purchasing behaviour remains consistent throughout the year, with a notable increase during the Christmas holiday period in December.</a:t>
              </a:r>
              <a:br>
                <a:rPr lang="en-GB" b="0" i="0">
                  <a:effectLst/>
                  <a:latin typeface="Roboto"/>
                  <a:ea typeface="Roboto"/>
                  <a:cs typeface="Roboto"/>
                </a:rPr>
              </a:br>
              <a:endParaRPr lang="en-GB" b="0" i="0">
                <a:solidFill>
                  <a:srgbClr val="FFFFFF"/>
                </a:solidFill>
                <a:effectLst/>
                <a:latin typeface="Roboto"/>
                <a:ea typeface="Roboto"/>
                <a:cs typeface="Roboto"/>
              </a:endParaRPr>
            </a:p>
            <a:p>
              <a:endParaRPr lang="en-US">
                <a:solidFill>
                  <a:schemeClr val="bg1"/>
                </a:solidFill>
                <a:ea typeface="Calibri"/>
              </a:endParaRPr>
            </a:p>
          </p:txBody>
        </p:sp>
      </p:grpSp>
      <p:grpSp>
        <p:nvGrpSpPr>
          <p:cNvPr id="14" name="Group 13">
            <a:extLst>
              <a:ext uri="{FF2B5EF4-FFF2-40B4-BE49-F238E27FC236}">
                <a16:creationId xmlns:a16="http://schemas.microsoft.com/office/drawing/2014/main" id="{B8BE09E6-E610-7CC8-CC28-A31D048F2942}"/>
              </a:ext>
            </a:extLst>
          </p:cNvPr>
          <p:cNvGrpSpPr/>
          <p:nvPr/>
        </p:nvGrpSpPr>
        <p:grpSpPr>
          <a:xfrm>
            <a:off x="5755683" y="3773575"/>
            <a:ext cx="1468528" cy="1756845"/>
            <a:chOff x="6244412" y="1020718"/>
            <a:chExt cx="1468528" cy="1974739"/>
          </a:xfrm>
        </p:grpSpPr>
        <p:sp>
          <p:nvSpPr>
            <p:cNvPr id="15" name="Rectangle: Rounded Corners 23">
              <a:extLst>
                <a:ext uri="{FF2B5EF4-FFF2-40B4-BE49-F238E27FC236}">
                  <a16:creationId xmlns:a16="http://schemas.microsoft.com/office/drawing/2014/main" id="{55FA3492-5786-DCA5-8619-22613E175981}"/>
                </a:ext>
              </a:extLst>
            </p:cNvPr>
            <p:cNvSpPr/>
            <p:nvPr/>
          </p:nvSpPr>
          <p:spPr>
            <a:xfrm>
              <a:off x="6338278" y="1020718"/>
              <a:ext cx="924529" cy="419424"/>
            </a:xfrm>
            <a:prstGeom prst="roundRect">
              <a:avLst/>
            </a:prstGeom>
            <a:solidFill>
              <a:srgbClr val="2DC4B7"/>
            </a:solidFill>
            <a:ln>
              <a:solidFill>
                <a:srgbClr val="2DC4B7"/>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latin typeface="Roboto" panose="02000000000000000000" pitchFamily="2" charset="0"/>
                  <a:ea typeface="Roboto" panose="02000000000000000000" pitchFamily="2" charset="0"/>
                  <a:cs typeface="Roboto" panose="02000000000000000000" pitchFamily="2" charset="0"/>
                </a:rPr>
                <a:t>+60% Tea and Coffee</a:t>
              </a:r>
            </a:p>
          </p:txBody>
        </p:sp>
        <p:sp>
          <p:nvSpPr>
            <p:cNvPr id="16" name="TextBox 15">
              <a:extLst>
                <a:ext uri="{FF2B5EF4-FFF2-40B4-BE49-F238E27FC236}">
                  <a16:creationId xmlns:a16="http://schemas.microsoft.com/office/drawing/2014/main" id="{1599CAAA-1033-4DED-0A1A-086E2DAE6CAB}"/>
                </a:ext>
              </a:extLst>
            </p:cNvPr>
            <p:cNvSpPr txBox="1"/>
            <p:nvPr/>
          </p:nvSpPr>
          <p:spPr>
            <a:xfrm>
              <a:off x="6244412" y="1438687"/>
              <a:ext cx="1468528" cy="155677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buNone/>
              </a:pPr>
              <a:r>
                <a:rPr lang="en-GB" sz="1000">
                  <a:latin typeface="Roboto"/>
                  <a:ea typeface="Roboto"/>
                  <a:cs typeface="Roboto"/>
                </a:rPr>
                <a:t>Highest index at the start of the year, then gradually declining through summer. Inverse pattern to Beer.</a:t>
              </a:r>
              <a:br>
                <a:rPr lang="en-GB" sz="1000">
                  <a:latin typeface="Roboto"/>
                  <a:ea typeface="Roboto"/>
                  <a:cs typeface="Roboto"/>
                </a:rPr>
              </a:br>
              <a:endParaRPr lang="en-GB" sz="1000" b="0" i="0">
                <a:solidFill>
                  <a:srgbClr val="FFFFFF"/>
                </a:solidFill>
                <a:effectLst/>
                <a:latin typeface="Roboto"/>
                <a:ea typeface="Roboto"/>
                <a:cs typeface="Roboto"/>
              </a:endParaRPr>
            </a:p>
            <a:p>
              <a:endParaRPr lang="en-US">
                <a:solidFill>
                  <a:schemeClr val="bg1"/>
                </a:solidFill>
                <a:ea typeface="Calibri"/>
              </a:endParaRPr>
            </a:p>
          </p:txBody>
        </p:sp>
      </p:grpSp>
      <p:grpSp>
        <p:nvGrpSpPr>
          <p:cNvPr id="17" name="Group 16">
            <a:extLst>
              <a:ext uri="{FF2B5EF4-FFF2-40B4-BE49-F238E27FC236}">
                <a16:creationId xmlns:a16="http://schemas.microsoft.com/office/drawing/2014/main" id="{59286853-DB71-F774-B404-D43D952E2A08}"/>
              </a:ext>
            </a:extLst>
          </p:cNvPr>
          <p:cNvGrpSpPr/>
          <p:nvPr/>
        </p:nvGrpSpPr>
        <p:grpSpPr>
          <a:xfrm>
            <a:off x="7456129" y="3773574"/>
            <a:ext cx="1618419" cy="1551639"/>
            <a:chOff x="6244762" y="1020718"/>
            <a:chExt cx="1618419" cy="1744082"/>
          </a:xfrm>
        </p:grpSpPr>
        <p:sp>
          <p:nvSpPr>
            <p:cNvPr id="18" name="Rectangle: Rounded Corners 23">
              <a:extLst>
                <a:ext uri="{FF2B5EF4-FFF2-40B4-BE49-F238E27FC236}">
                  <a16:creationId xmlns:a16="http://schemas.microsoft.com/office/drawing/2014/main" id="{3B84F7A5-4F66-B2C6-DE7E-D0FD8C3838FA}"/>
                </a:ext>
              </a:extLst>
            </p:cNvPr>
            <p:cNvSpPr/>
            <p:nvPr/>
          </p:nvSpPr>
          <p:spPr>
            <a:xfrm>
              <a:off x="6338278" y="1020718"/>
              <a:ext cx="924529" cy="419424"/>
            </a:xfrm>
            <a:prstGeom prst="roundRect">
              <a:avLst/>
            </a:prstGeom>
            <a:solidFill>
              <a:srgbClr val="4261F1"/>
            </a:solidFill>
            <a:ln>
              <a:solidFill>
                <a:srgbClr val="4261F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latin typeface="Roboto" panose="02000000000000000000" pitchFamily="2" charset="0"/>
                  <a:ea typeface="Roboto" panose="02000000000000000000" pitchFamily="2" charset="0"/>
                  <a:cs typeface="Roboto" panose="02000000000000000000" pitchFamily="2" charset="0"/>
                </a:rPr>
                <a:t>+43% Sauces</a:t>
              </a:r>
            </a:p>
          </p:txBody>
        </p:sp>
        <p:sp>
          <p:nvSpPr>
            <p:cNvPr id="19" name="TextBox 18">
              <a:extLst>
                <a:ext uri="{FF2B5EF4-FFF2-40B4-BE49-F238E27FC236}">
                  <a16:creationId xmlns:a16="http://schemas.microsoft.com/office/drawing/2014/main" id="{6FB31B41-BB24-30A9-257C-D7DD17B7E0C1}"/>
                </a:ext>
              </a:extLst>
            </p:cNvPr>
            <p:cNvSpPr txBox="1"/>
            <p:nvPr/>
          </p:nvSpPr>
          <p:spPr>
            <a:xfrm>
              <a:off x="6244762" y="1484790"/>
              <a:ext cx="1618419" cy="128001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buNone/>
              </a:pPr>
              <a:r>
                <a:rPr lang="en-GB" sz="1000" b="0" i="0">
                  <a:solidFill>
                    <a:schemeClr val="bg2">
                      <a:lumMod val="50000"/>
                    </a:schemeClr>
                  </a:solidFill>
                  <a:effectLst/>
                  <a:latin typeface="Roboto"/>
                  <a:ea typeface="Roboto"/>
                  <a:cs typeface="Roboto"/>
                </a:rPr>
                <a:t>Steady January peak with relatively flat behaviour across the rest of the year.</a:t>
              </a:r>
              <a:br>
                <a:rPr lang="en-GB" b="0" i="0">
                  <a:effectLst/>
                  <a:latin typeface="Roboto"/>
                  <a:ea typeface="Roboto"/>
                  <a:cs typeface="Roboto"/>
                </a:rPr>
              </a:br>
              <a:endParaRPr lang="en-GB" b="0" i="0">
                <a:solidFill>
                  <a:srgbClr val="FFFFFF"/>
                </a:solidFill>
                <a:effectLst/>
                <a:latin typeface="Roboto"/>
                <a:ea typeface="Roboto"/>
                <a:cs typeface="Roboto"/>
              </a:endParaRPr>
            </a:p>
            <a:p>
              <a:endParaRPr lang="en-US">
                <a:solidFill>
                  <a:schemeClr val="bg1"/>
                </a:solidFill>
                <a:ea typeface="Calibri"/>
              </a:endParaRPr>
            </a:p>
          </p:txBody>
        </p:sp>
      </p:grpSp>
      <p:pic>
        <p:nvPicPr>
          <p:cNvPr id="1036" name="Picture 12">
            <a:extLst>
              <a:ext uri="{FF2B5EF4-FFF2-40B4-BE49-F238E27FC236}">
                <a16:creationId xmlns:a16="http://schemas.microsoft.com/office/drawing/2014/main" id="{0061E1E5-E335-C40E-18BC-7946C8FE9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83" y="464842"/>
            <a:ext cx="6468166" cy="3241944"/>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89CAE4A1-2EE4-87F3-6283-6C1477CFCAB7}"/>
              </a:ext>
            </a:extLst>
          </p:cNvPr>
          <p:cNvSpPr txBox="1"/>
          <p:nvPr/>
        </p:nvSpPr>
        <p:spPr>
          <a:xfrm>
            <a:off x="6705811" y="273876"/>
            <a:ext cx="2232878" cy="2708434"/>
          </a:xfrm>
          <a:prstGeom prst="rect">
            <a:avLst/>
          </a:prstGeom>
          <a:noFill/>
          <a:ln>
            <a:solidFill>
              <a:schemeClr val="tx1"/>
            </a:solidFill>
          </a:ln>
          <a:effectLst>
            <a:softEdge rad="0"/>
          </a:effectLst>
        </p:spPr>
        <p:txBody>
          <a:bodyPr wrap="square" lIns="91440" tIns="45720" rIns="91440" bIns="45720" rtlCol="0" anchor="t">
            <a:spAutoFit/>
          </a:bodyPr>
          <a:lstStyle/>
          <a:p>
            <a:pPr>
              <a:buNone/>
            </a:pPr>
            <a:r>
              <a:rPr lang="en-GB" sz="1000" b="1">
                <a:latin typeface="Roboto"/>
                <a:ea typeface="Roboto"/>
                <a:cs typeface="Roboto"/>
              </a:rPr>
              <a:t>Seasonal Level Insights</a:t>
            </a:r>
            <a:endParaRPr lang="en-US" sz="1000" b="1">
              <a:latin typeface="Roboto"/>
              <a:ea typeface="Roboto"/>
              <a:cs typeface="Roboto"/>
            </a:endParaRPr>
          </a:p>
          <a:p>
            <a:pPr>
              <a:buFont typeface="Arial" panose="020B0604020202020204" pitchFamily="34" charset="0"/>
              <a:buChar char="•"/>
            </a:pPr>
            <a:endParaRPr lang="en-GB" sz="1000" b="1">
              <a:latin typeface="Roboto"/>
              <a:ea typeface="Roboto" panose="02000000000000000000" pitchFamily="2" charset="0"/>
              <a:cs typeface="Roboto" panose="02000000000000000000" pitchFamily="2" charset="0"/>
            </a:endParaRPr>
          </a:p>
          <a:p>
            <a:r>
              <a:rPr lang="en-GB" sz="1000" b="1">
                <a:latin typeface="Roboto"/>
                <a:ea typeface="Roboto"/>
                <a:cs typeface="Roboto"/>
              </a:rPr>
              <a:t>Winter (Dec–Feb):</a:t>
            </a:r>
            <a:r>
              <a:rPr lang="en-GB" sz="1000">
                <a:latin typeface="Roboto"/>
                <a:ea typeface="Roboto"/>
                <a:cs typeface="Roboto"/>
              </a:rPr>
              <a:t> Peak demand driven by Spirits and Wine --&gt; strong gifting &amp; festive occasions</a:t>
            </a:r>
          </a:p>
          <a:p>
            <a:pPr>
              <a:buFont typeface="Arial" panose="020B0604020202020204" pitchFamily="34" charset="0"/>
              <a:buChar char="•"/>
            </a:pPr>
            <a:endParaRPr lang="en-GB" sz="1000">
              <a:latin typeface="Roboto"/>
              <a:ea typeface="Roboto"/>
              <a:cs typeface="Roboto"/>
            </a:endParaRPr>
          </a:p>
          <a:p>
            <a:r>
              <a:rPr lang="en-GB" sz="1000" b="1">
                <a:latin typeface="Roboto"/>
                <a:ea typeface="Roboto"/>
                <a:cs typeface="Roboto"/>
              </a:rPr>
              <a:t>Spring (Mar–May):</a:t>
            </a:r>
            <a:r>
              <a:rPr lang="en-GB" sz="1000">
                <a:latin typeface="Roboto"/>
                <a:ea typeface="Roboto"/>
                <a:cs typeface="Roboto"/>
              </a:rPr>
              <a:t> Stabilisation period --&gt; balanced demand across categories </a:t>
            </a:r>
          </a:p>
          <a:p>
            <a:pPr>
              <a:buFont typeface="Arial" panose="020B0604020202020204" pitchFamily="34" charset="0"/>
              <a:buChar char="•"/>
            </a:pPr>
            <a:endParaRPr lang="en-GB" sz="1000">
              <a:latin typeface="Roboto"/>
              <a:ea typeface="Roboto"/>
              <a:cs typeface="Roboto"/>
            </a:endParaRPr>
          </a:p>
          <a:p>
            <a:r>
              <a:rPr lang="en-GB" sz="1000" b="1">
                <a:latin typeface="Roboto"/>
                <a:ea typeface="Roboto"/>
                <a:cs typeface="Roboto"/>
              </a:rPr>
              <a:t>Summer (Jun–Aug):</a:t>
            </a:r>
            <a:r>
              <a:rPr lang="en-GB" sz="1000">
                <a:latin typeface="Roboto"/>
                <a:ea typeface="Roboto"/>
                <a:cs typeface="Roboto"/>
              </a:rPr>
              <a:t> Beer dominates --&gt; social/outdoor consumption drives mid-year spike </a:t>
            </a:r>
          </a:p>
          <a:p>
            <a:pPr>
              <a:buFont typeface="Arial" panose="020B0604020202020204" pitchFamily="34" charset="0"/>
              <a:buChar char="•"/>
            </a:pPr>
            <a:endParaRPr lang="en-GB" sz="1000">
              <a:latin typeface="Roboto"/>
              <a:ea typeface="Roboto"/>
              <a:cs typeface="Roboto"/>
            </a:endParaRPr>
          </a:p>
          <a:p>
            <a:r>
              <a:rPr lang="en-GB" sz="1000" b="1">
                <a:latin typeface="Roboto"/>
                <a:ea typeface="Roboto"/>
                <a:cs typeface="Roboto"/>
              </a:rPr>
              <a:t>Autumn (Sep–Nov): </a:t>
            </a:r>
            <a:r>
              <a:rPr lang="en-GB" sz="1000">
                <a:latin typeface="Roboto"/>
                <a:ea typeface="Roboto"/>
                <a:cs typeface="Roboto"/>
              </a:rPr>
              <a:t>Transition phase --Wine and Spirits begin ramp-up toward festive peak </a:t>
            </a:r>
          </a:p>
        </p:txBody>
      </p:sp>
    </p:spTree>
    <p:custDataLst>
      <p:tags r:id="rId1"/>
    </p:custDataLst>
    <p:extLst>
      <p:ext uri="{BB962C8B-B14F-4D97-AF65-F5344CB8AC3E}">
        <p14:creationId xmlns:p14="http://schemas.microsoft.com/office/powerpoint/2010/main" val="3221511937"/>
      </p:ext>
    </p:extLst>
  </p:cSld>
  <p:clrMapOvr>
    <a:masterClrMapping/>
  </p:clrMapOvr>
  <mc:AlternateContent xmlns:mc="http://schemas.openxmlformats.org/markup-compatibility/2006" xmlns:p14="http://schemas.microsoft.com/office/powerpoint/2010/main">
    <mc:Choice Requires="p14">
      <p:transition spd="slow" p14:dur="2000" advTm="27093"/>
    </mc:Choice>
    <mc:Fallback xmlns="">
      <p:transition spd="slow" advTm="2709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ppt_x"/>
                                          </p:val>
                                        </p:tav>
                                        <p:tav tm="100000">
                                          <p:val>
                                            <p:strVal val="#ppt_x"/>
                                          </p:val>
                                        </p:tav>
                                      </p:tavLst>
                                    </p:anim>
                                    <p:anim calcmode="lin" valueType="num">
                                      <p:cBhvr additive="base">
                                        <p:cTn id="2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A6225-31AB-F1F6-F1AA-EF1B268B4015}"/>
              </a:ext>
            </a:extLst>
          </p:cNvPr>
          <p:cNvSpPr>
            <a:spLocks noGrp="1"/>
          </p:cNvSpPr>
          <p:nvPr>
            <p:ph type="title"/>
          </p:nvPr>
        </p:nvSpPr>
        <p:spPr>
          <a:xfrm>
            <a:off x="213654" y="0"/>
            <a:ext cx="8222100" cy="838800"/>
          </a:xfrm>
        </p:spPr>
        <p:txBody>
          <a:bodyPr/>
          <a:lstStyle/>
          <a:p>
            <a:r>
              <a:rPr lang="en-GB" sz="2000">
                <a:solidFill>
                  <a:schemeClr val="tx1"/>
                </a:solidFill>
              </a:rPr>
              <a:t>Insight 2- Three Distinct Shopper Segments Revealed</a:t>
            </a:r>
            <a:endParaRPr lang="en-US" sz="2000">
              <a:solidFill>
                <a:schemeClr val="tx1"/>
              </a:solidFill>
            </a:endParaRPr>
          </a:p>
        </p:txBody>
      </p:sp>
      <p:sp>
        <p:nvSpPr>
          <p:cNvPr id="4" name="TextBox 3">
            <a:extLst>
              <a:ext uri="{FF2B5EF4-FFF2-40B4-BE49-F238E27FC236}">
                <a16:creationId xmlns:a16="http://schemas.microsoft.com/office/drawing/2014/main" id="{A91C2FE9-B0CF-67D9-8621-851023C35B42}"/>
              </a:ext>
            </a:extLst>
          </p:cNvPr>
          <p:cNvSpPr txBox="1"/>
          <p:nvPr/>
        </p:nvSpPr>
        <p:spPr>
          <a:xfrm>
            <a:off x="4572000" y="687521"/>
            <a:ext cx="4572000" cy="4375557"/>
          </a:xfrm>
          <a:prstGeom prst="rect">
            <a:avLst/>
          </a:prstGeom>
          <a:noFill/>
        </p:spPr>
        <p:txBody>
          <a:bodyPr wrap="square" lIns="91440" tIns="45720" rIns="91440" bIns="45720" anchor="t">
            <a:spAutoFit/>
          </a:bodyPr>
          <a:lstStyle/>
          <a:p>
            <a:pPr rtl="0">
              <a:spcBef>
                <a:spcPts val="1800"/>
              </a:spcBef>
              <a:spcAft>
                <a:spcPts val="400"/>
              </a:spcAft>
              <a:buNone/>
            </a:pPr>
            <a:r>
              <a:rPr lang="en-GB" sz="1000" b="1" i="0" u="none" strike="noStrike">
                <a:solidFill>
                  <a:srgbClr val="7AA9DF"/>
                </a:solidFill>
                <a:effectLst/>
                <a:latin typeface="Roboto"/>
                <a:ea typeface="Roboto"/>
                <a:cs typeface="Roboto"/>
              </a:rPr>
              <a:t>Cluster 1 - Convenience </a:t>
            </a:r>
            <a:r>
              <a:rPr lang="en-GB" sz="1000" b="1">
                <a:solidFill>
                  <a:srgbClr val="7AA9DF"/>
                </a:solidFill>
                <a:latin typeface="Roboto"/>
                <a:ea typeface="Roboto"/>
                <a:cs typeface="Roboto"/>
              </a:rPr>
              <a:t>Snackers</a:t>
            </a:r>
            <a:endParaRPr lang="en-GB" sz="1000" b="1">
              <a:solidFill>
                <a:srgbClr val="7AA9DF"/>
              </a:solidFill>
              <a:effectLst/>
              <a:latin typeface="Roboto"/>
              <a:ea typeface="Roboto"/>
              <a:cs typeface="Roboto"/>
            </a:endParaRPr>
          </a:p>
          <a:p>
            <a:r>
              <a:rPr lang="en-GB" sz="1000" b="0" i="0" u="none" strike="noStrike">
                <a:solidFill>
                  <a:srgbClr val="000000"/>
                </a:solidFill>
                <a:effectLst/>
                <a:latin typeface="Roboto"/>
                <a:ea typeface="Roboto"/>
                <a:cs typeface="Roboto"/>
              </a:rPr>
              <a:t>Cluster 1 is characterised by significantly higher purchases of ready-made meals, soft drinks and sweets, </a:t>
            </a:r>
            <a:r>
              <a:rPr lang="en-GB" sz="1000" b="0" i="0" u="none" strike="noStrike">
                <a:solidFill>
                  <a:schemeClr val="bg2">
                    <a:lumMod val="50000"/>
                  </a:schemeClr>
                </a:solidFill>
                <a:effectLst/>
                <a:latin typeface="Roboto"/>
                <a:ea typeface="Roboto"/>
                <a:cs typeface="Roboto"/>
              </a:rPr>
              <a:t>combined</a:t>
            </a:r>
            <a:r>
              <a:rPr lang="en-GB" sz="1000" b="0" i="0" u="none" strike="noStrike">
                <a:solidFill>
                  <a:srgbClr val="000000"/>
                </a:solidFill>
                <a:effectLst/>
                <a:latin typeface="Roboto"/>
                <a:ea typeface="Roboto"/>
                <a:cs typeface="Roboto"/>
              </a:rPr>
              <a:t> with lower spending on fresh </a:t>
            </a:r>
            <a:r>
              <a:rPr lang="en-GB" sz="1000" b="0" i="0" u="none" strike="noStrike">
                <a:solidFill>
                  <a:schemeClr val="bg2">
                    <a:lumMod val="50000"/>
                  </a:schemeClr>
                </a:solidFill>
                <a:effectLst/>
                <a:latin typeface="Roboto"/>
                <a:ea typeface="Roboto"/>
                <a:cs typeface="Roboto"/>
              </a:rPr>
              <a:t>and</a:t>
            </a:r>
            <a:r>
              <a:rPr lang="en-GB" sz="1000" b="0" i="0" u="none" strike="noStrike">
                <a:solidFill>
                  <a:srgbClr val="FF0000"/>
                </a:solidFill>
                <a:effectLst/>
                <a:latin typeface="Roboto"/>
                <a:ea typeface="Roboto"/>
                <a:cs typeface="Roboto"/>
              </a:rPr>
              <a:t> </a:t>
            </a:r>
            <a:r>
              <a:rPr lang="en-GB" sz="1000" b="0" i="0" u="none" strike="noStrike">
                <a:solidFill>
                  <a:schemeClr val="bg2">
                    <a:lumMod val="50000"/>
                  </a:schemeClr>
                </a:solidFill>
                <a:effectLst/>
                <a:latin typeface="Roboto"/>
                <a:ea typeface="Roboto"/>
                <a:cs typeface="Roboto"/>
              </a:rPr>
              <a:t>cooking</a:t>
            </a:r>
            <a:r>
              <a:rPr lang="en-GB" sz="1000" b="0" i="0" u="none" strike="noStrike">
                <a:solidFill>
                  <a:srgbClr val="000000"/>
                </a:solidFill>
                <a:effectLst/>
                <a:latin typeface="Roboto"/>
                <a:ea typeface="Roboto"/>
                <a:cs typeface="Roboto"/>
              </a:rPr>
              <a:t> ingredients such as fish,</a:t>
            </a:r>
            <a:r>
              <a:rPr lang="en-GB" sz="1000" b="0" i="0" u="none" strike="noStrike">
                <a:solidFill>
                  <a:srgbClr val="FF0000"/>
                </a:solidFill>
                <a:effectLst/>
                <a:latin typeface="Roboto"/>
                <a:ea typeface="Roboto"/>
                <a:cs typeface="Roboto"/>
              </a:rPr>
              <a:t> </a:t>
            </a:r>
            <a:r>
              <a:rPr lang="en-GB" sz="1000" b="0" i="0" u="none" strike="noStrike">
                <a:solidFill>
                  <a:schemeClr val="bg2">
                    <a:lumMod val="50000"/>
                  </a:schemeClr>
                </a:solidFill>
                <a:effectLst/>
                <a:latin typeface="Roboto"/>
                <a:ea typeface="Roboto"/>
                <a:cs typeface="Roboto"/>
              </a:rPr>
              <a:t>fats/oils, red meat and eggs. This suggests a convenience-oriented consumption pattern where processed and less healthy ready-to-eat foods are preferred.</a:t>
            </a:r>
            <a:r>
              <a:rPr lang="en-GB" sz="1000">
                <a:solidFill>
                  <a:schemeClr val="bg2">
                    <a:lumMod val="50000"/>
                  </a:schemeClr>
                </a:solidFill>
                <a:latin typeface="Roboto"/>
                <a:ea typeface="Roboto"/>
                <a:cs typeface="Roboto"/>
              </a:rPr>
              <a:t> (</a:t>
            </a:r>
            <a:r>
              <a:rPr lang="en-GB" sz="1000">
                <a:latin typeface="Roboto"/>
                <a:ea typeface="Roboto"/>
                <a:cs typeface="Roboto"/>
              </a:rPr>
              <a:t>Average Age: ~37.8 years &amp; Population Density: ~4,951 people per </a:t>
            </a:r>
            <a:r>
              <a:rPr lang="en-GB" sz="1000" err="1">
                <a:latin typeface="Roboto"/>
                <a:ea typeface="Roboto"/>
                <a:cs typeface="Roboto"/>
              </a:rPr>
              <a:t>sq</a:t>
            </a:r>
            <a:r>
              <a:rPr lang="en-GB" sz="1000">
                <a:latin typeface="Roboto"/>
                <a:ea typeface="Roboto"/>
                <a:cs typeface="Roboto"/>
              </a:rPr>
              <a:t> km)</a:t>
            </a:r>
          </a:p>
          <a:p>
            <a:endParaRPr lang="en-GB" sz="1000" b="1">
              <a:solidFill>
                <a:srgbClr val="CBA3DE"/>
              </a:solidFill>
              <a:latin typeface="Trebuchet MS"/>
            </a:endParaRPr>
          </a:p>
          <a:p>
            <a:endParaRPr lang="en-GB" sz="1000" b="1">
              <a:solidFill>
                <a:srgbClr val="CBA3DE"/>
              </a:solidFill>
              <a:latin typeface="Trebuchet MS"/>
            </a:endParaRPr>
          </a:p>
          <a:p>
            <a:r>
              <a:rPr lang="en-GB" sz="1000" b="1" i="0" u="none" strike="noStrike">
                <a:solidFill>
                  <a:srgbClr val="CBA3DE"/>
                </a:solidFill>
                <a:effectLst/>
                <a:latin typeface="Roboto"/>
                <a:ea typeface="Roboto"/>
                <a:cs typeface="Roboto"/>
              </a:rPr>
              <a:t>Cluster </a:t>
            </a:r>
            <a:r>
              <a:rPr lang="en-GB" sz="1000" b="1">
                <a:solidFill>
                  <a:srgbClr val="CBA3DE"/>
                </a:solidFill>
                <a:latin typeface="Roboto"/>
                <a:ea typeface="Roboto"/>
                <a:cs typeface="Roboto"/>
              </a:rPr>
              <a:t>2 – Fresh &amp; Premium Shoppers</a:t>
            </a:r>
            <a:endParaRPr lang="en-GB" b="1">
              <a:latin typeface="Roboto"/>
              <a:ea typeface="Roboto"/>
              <a:cs typeface="Roboto"/>
            </a:endParaRPr>
          </a:p>
          <a:p>
            <a:r>
              <a:rPr lang="en-GB" sz="1000" b="0" i="0" u="none" strike="noStrike">
                <a:solidFill>
                  <a:schemeClr val="bg2">
                    <a:lumMod val="50000"/>
                  </a:schemeClr>
                </a:solidFill>
                <a:effectLst/>
                <a:latin typeface="Roboto"/>
                <a:ea typeface="Roboto"/>
                <a:cs typeface="Roboto"/>
              </a:rPr>
              <a:t>Cluster 2 displays higher purchases of fresh foods such as fish, fruit and vegetables as well as wine and beer, alongside lower consumption of processed and sugary items like soft drinks, sweets and ready-made meals. This indicates a more health-conscious consumption pattern focused on fresh ingredients, combined with higher wine and beer consumption</a:t>
            </a:r>
            <a:r>
              <a:rPr lang="en-GB" sz="1000">
                <a:solidFill>
                  <a:schemeClr val="bg2">
                    <a:lumMod val="50000"/>
                  </a:schemeClr>
                </a:solidFill>
                <a:latin typeface="Roboto"/>
                <a:ea typeface="Roboto"/>
                <a:cs typeface="Roboto"/>
              </a:rPr>
              <a:t>.  (</a:t>
            </a:r>
            <a:r>
              <a:rPr lang="en-GB" sz="1000">
                <a:latin typeface="Roboto"/>
                <a:ea typeface="Roboto"/>
                <a:cs typeface="Roboto"/>
              </a:rPr>
              <a:t>Average Age: ~37.0 years &amp; Population Density: ~9,985 people per </a:t>
            </a:r>
            <a:r>
              <a:rPr lang="en-GB" sz="1000" err="1">
                <a:latin typeface="Roboto"/>
                <a:ea typeface="Roboto"/>
                <a:cs typeface="Roboto"/>
              </a:rPr>
              <a:t>sq</a:t>
            </a:r>
            <a:r>
              <a:rPr lang="en-GB" sz="1000">
                <a:latin typeface="Roboto"/>
                <a:ea typeface="Roboto"/>
                <a:cs typeface="Roboto"/>
              </a:rPr>
              <a:t> km)</a:t>
            </a:r>
            <a:endParaRPr lang="en-GB" sz="1000" b="0" i="0" u="none" strike="noStrike">
              <a:effectLst/>
              <a:latin typeface="Roboto"/>
              <a:ea typeface="Roboto"/>
              <a:cs typeface="Roboto"/>
            </a:endParaRPr>
          </a:p>
          <a:p>
            <a:pPr rtl="0">
              <a:buNone/>
            </a:pPr>
            <a:endParaRPr lang="en-GB" sz="1000">
              <a:solidFill>
                <a:schemeClr val="bg2">
                  <a:lumMod val="50000"/>
                </a:schemeClr>
              </a:solidFill>
              <a:latin typeface="Trebuchet MS"/>
            </a:endParaRPr>
          </a:p>
          <a:p>
            <a:pPr>
              <a:spcBef>
                <a:spcPts val="2400"/>
              </a:spcBef>
              <a:spcAft>
                <a:spcPts val="600"/>
              </a:spcAft>
            </a:pPr>
            <a:r>
              <a:rPr lang="en-GB" sz="1000" b="1" i="0" u="none" strike="noStrike">
                <a:solidFill>
                  <a:srgbClr val="00B050"/>
                </a:solidFill>
                <a:effectLst/>
                <a:latin typeface="Roboto"/>
                <a:ea typeface="Roboto"/>
                <a:cs typeface="Roboto"/>
              </a:rPr>
              <a:t>Cluster 3 - </a:t>
            </a:r>
            <a:r>
              <a:rPr lang="en-GB" sz="1000" b="1">
                <a:solidFill>
                  <a:srgbClr val="00B050"/>
                </a:solidFill>
                <a:latin typeface="Roboto"/>
                <a:ea typeface="Roboto"/>
                <a:cs typeface="Roboto"/>
              </a:rPr>
              <a:t>Hydrated Home Cooks</a:t>
            </a:r>
            <a:endParaRPr lang="en-GB" sz="1000" b="1">
              <a:solidFill>
                <a:srgbClr val="00B050"/>
              </a:solidFill>
              <a:effectLst/>
              <a:latin typeface="Roboto"/>
              <a:ea typeface="Roboto"/>
              <a:cs typeface="Roboto"/>
            </a:endParaRPr>
          </a:p>
          <a:p>
            <a:r>
              <a:rPr lang="en-GB" sz="1000" b="0" i="0" u="none" strike="noStrike">
                <a:solidFill>
                  <a:schemeClr val="bg2">
                    <a:lumMod val="50000"/>
                  </a:schemeClr>
                </a:solidFill>
                <a:effectLst/>
                <a:latin typeface="Roboto"/>
                <a:ea typeface="Roboto"/>
                <a:cs typeface="Roboto"/>
              </a:rPr>
              <a:t>Cluster 2 is characterised by higher purchases of water, fats/oils, sauces, eggs/meat, indicating a diet based on home-cooked meals. Higher consumption of spirits also distinguishes this cluster from the others. They also drink noticeably less wine and beer and consume fewer ready-made meals.</a:t>
            </a:r>
            <a:r>
              <a:rPr lang="en-GB" sz="1000">
                <a:solidFill>
                  <a:schemeClr val="bg2">
                    <a:lumMod val="50000"/>
                  </a:schemeClr>
                </a:solidFill>
                <a:latin typeface="Roboto"/>
                <a:ea typeface="Roboto"/>
                <a:cs typeface="Roboto"/>
              </a:rPr>
              <a:t> (</a:t>
            </a:r>
            <a:r>
              <a:rPr lang="en-GB" sz="1000">
                <a:latin typeface="Roboto"/>
                <a:ea typeface="Roboto"/>
                <a:cs typeface="Roboto"/>
              </a:rPr>
              <a:t>Average Age: ~34.4 years &amp; Population Density: ~10,077 people per </a:t>
            </a:r>
            <a:r>
              <a:rPr lang="en-GB" sz="1000" err="1">
                <a:latin typeface="Roboto"/>
                <a:ea typeface="Roboto"/>
                <a:cs typeface="Roboto"/>
              </a:rPr>
              <a:t>sq</a:t>
            </a:r>
            <a:r>
              <a:rPr lang="en-GB" sz="1000">
                <a:latin typeface="Roboto"/>
                <a:ea typeface="Roboto"/>
                <a:cs typeface="Roboto"/>
              </a:rPr>
              <a:t> km)</a:t>
            </a:r>
            <a:endParaRPr lang="en-GB" sz="1000" b="0">
              <a:effectLst/>
              <a:latin typeface="Roboto"/>
              <a:ea typeface="Roboto"/>
              <a:cs typeface="Roboto"/>
            </a:endParaRPr>
          </a:p>
        </p:txBody>
      </p:sp>
      <p:pic>
        <p:nvPicPr>
          <p:cNvPr id="1026" name="Picture 2">
            <a:extLst>
              <a:ext uri="{FF2B5EF4-FFF2-40B4-BE49-F238E27FC236}">
                <a16:creationId xmlns:a16="http://schemas.microsoft.com/office/drawing/2014/main" id="{4B5D9325-12CA-12C6-5BD9-976706AFC6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36392"/>
            <a:ext cx="4697312" cy="280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0854978"/>
      </p:ext>
    </p:extLst>
  </p:cSld>
  <p:clrMapOvr>
    <a:masterClrMapping/>
  </p:clrMapOvr>
  <mc:AlternateContent xmlns:mc="http://schemas.openxmlformats.org/markup-compatibility/2006" xmlns:p14="http://schemas.microsoft.com/office/powerpoint/2010/main">
    <mc:Choice Requires="p14">
      <p:transition spd="slow" p14:dur="2000" advTm="26314"/>
    </mc:Choice>
    <mc:Fallback xmlns="">
      <p:transition spd="slow" advTm="2631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r>
              <a:rPr lang="en" sz="2000"/>
              <a:t>Task 3 - Description of the Income Dataset</a:t>
            </a:r>
            <a:endParaRPr lang="en-US" sz="2000"/>
          </a:p>
          <a:p>
            <a:br>
              <a:rPr lang="en"/>
            </a:br>
            <a:endParaRPr lang="en">
              <a:solidFill>
                <a:srgbClr val="000000"/>
              </a:solidFill>
            </a:endParaRPr>
          </a:p>
          <a:p>
            <a:endParaRPr lang="en"/>
          </a:p>
        </p:txBody>
      </p:sp>
      <p:sp>
        <p:nvSpPr>
          <p:cNvPr id="95" name="Google Shape;95;p14"/>
          <p:cNvSpPr txBox="1">
            <a:spLocks noGrp="1"/>
          </p:cNvSpPr>
          <p:nvPr>
            <p:ph type="body" idx="4294967295"/>
          </p:nvPr>
        </p:nvSpPr>
        <p:spPr>
          <a:xfrm>
            <a:off x="506425" y="1304875"/>
            <a:ext cx="2494500" cy="461400"/>
          </a:xfrm>
          <a:prstGeom prst="rect">
            <a:avLst/>
          </a:prstGeom>
        </p:spPr>
        <p:txBody>
          <a:bodyPr spcFirstLastPara="1" wrap="square" lIns="91425" tIns="91425" rIns="91425" bIns="91425" anchor="t" anchorCtr="0">
            <a:noAutofit/>
          </a:bodyPr>
          <a:lstStyle/>
          <a:p>
            <a:pPr>
              <a:lnSpc>
                <a:spcPct val="114999"/>
              </a:lnSpc>
              <a:buNone/>
            </a:pPr>
            <a:r>
              <a:rPr lang="en">
                <a:solidFill>
                  <a:schemeClr val="lt1"/>
                </a:solidFill>
              </a:rPr>
              <a:t>What does it </a:t>
            </a:r>
            <a:r>
              <a:rPr lang="en" err="1">
                <a:solidFill>
                  <a:schemeClr val="lt1"/>
                </a:solidFill>
              </a:rPr>
              <a:t>contin</a:t>
            </a:r>
            <a:endParaRPr lang="en" err="1">
              <a:solidFill>
                <a:srgbClr val="000000"/>
              </a:solidFill>
            </a:endParaRPr>
          </a:p>
          <a:p>
            <a:pPr marL="0" lvl="0" indent="0" algn="l">
              <a:lnSpc>
                <a:spcPct val="114999"/>
              </a:lnSpc>
              <a:spcBef>
                <a:spcPts val="0"/>
              </a:spcBef>
              <a:spcAft>
                <a:spcPts val="0"/>
              </a:spcAft>
              <a:buNone/>
            </a:pPr>
            <a:endParaRPr lang="en">
              <a:solidFill>
                <a:schemeClr val="lt1"/>
              </a:solidFill>
            </a:endParaRPr>
          </a:p>
        </p:txBody>
      </p:sp>
      <p:sp>
        <p:nvSpPr>
          <p:cNvPr id="96" name="Google Shape;96;p14"/>
          <p:cNvSpPr txBox="1">
            <a:spLocks noGrp="1"/>
          </p:cNvSpPr>
          <p:nvPr>
            <p:ph type="body" idx="4294967295"/>
          </p:nvPr>
        </p:nvSpPr>
        <p:spPr>
          <a:xfrm>
            <a:off x="312812" y="1016064"/>
            <a:ext cx="8394126" cy="4111491"/>
          </a:xfrm>
          <a:prstGeom prst="rect">
            <a:avLst/>
          </a:prstGeom>
        </p:spPr>
        <p:txBody>
          <a:bodyPr spcFirstLastPara="1" wrap="square" lIns="91425" tIns="91425" rIns="91425" bIns="91425" anchor="t" anchorCtr="0">
            <a:noAutofit/>
          </a:bodyPr>
          <a:lstStyle/>
          <a:p>
            <a:pPr marL="285750" indent="-285750"/>
            <a:r>
              <a:rPr lang="en" sz="1500">
                <a:solidFill>
                  <a:schemeClr val="bg2"/>
                </a:solidFill>
                <a:latin typeface="Roboto" panose="02000000000000000000" pitchFamily="2" charset="0"/>
                <a:ea typeface="Roboto" panose="02000000000000000000" pitchFamily="2" charset="0"/>
                <a:cs typeface="Roboto" panose="02000000000000000000" pitchFamily="2" charset="0"/>
              </a:rPr>
              <a:t>Dataset chosen: ONS Model-Based Income Estimates, MSOA (</a:t>
            </a:r>
            <a:r>
              <a:rPr lang="en" sz="1500">
                <a:solidFill>
                  <a:schemeClr val="bg2"/>
                </a:solidFill>
                <a:highlight>
                  <a:srgbClr val="FFFFFF"/>
                </a:highlight>
                <a:latin typeface="Roboto" panose="02000000000000000000" pitchFamily="2" charset="0"/>
                <a:ea typeface="Roboto" panose="02000000000000000000" pitchFamily="2" charset="0"/>
                <a:cs typeface="Roboto" panose="02000000000000000000" pitchFamily="2" charset="0"/>
              </a:rPr>
              <a:t>https://data.london.gov.uk/dataset/ons-model-based-income-estimates-msoa-e113d/, n.d.</a:t>
            </a:r>
            <a:r>
              <a:rPr lang="en" sz="1500">
                <a:solidFill>
                  <a:schemeClr val="bg2"/>
                </a:solidFill>
                <a:latin typeface="Roboto" panose="02000000000000000000" pitchFamily="2" charset="0"/>
                <a:ea typeface="Roboto" panose="02000000000000000000" pitchFamily="2" charset="0"/>
                <a:cs typeface="Roboto" panose="02000000000000000000" pitchFamily="2" charset="0"/>
              </a:rPr>
              <a:t>)</a:t>
            </a:r>
            <a:endParaRPr lang="en-GB" sz="1500">
              <a:solidFill>
                <a:schemeClr val="bg2"/>
              </a:solidFill>
              <a:latin typeface="Roboto" panose="02000000000000000000" pitchFamily="2" charset="0"/>
              <a:ea typeface="Roboto" panose="02000000000000000000" pitchFamily="2" charset="0"/>
              <a:cs typeface="Roboto" panose="02000000000000000000" pitchFamily="2" charset="0"/>
            </a:endParaRPr>
          </a:p>
          <a:p>
            <a:pPr marL="285750" indent="-285750">
              <a:lnSpc>
                <a:spcPct val="114999"/>
              </a:lnSpc>
            </a:pPr>
            <a:r>
              <a:rPr lang="en" sz="1500">
                <a:latin typeface="Roboto" panose="02000000000000000000" pitchFamily="2" charset="0"/>
                <a:ea typeface="Roboto" panose="02000000000000000000" pitchFamily="2" charset="0"/>
                <a:cs typeface="Roboto" panose="02000000000000000000" pitchFamily="2" charset="0"/>
              </a:rPr>
              <a:t>Provides estimates of mean household income for MSOAs in England and Wales. 2015/16 data was chosen for use.</a:t>
            </a:r>
          </a:p>
          <a:p>
            <a:pPr marL="285750" indent="-285750">
              <a:lnSpc>
                <a:spcPct val="114999"/>
              </a:lnSpc>
            </a:pPr>
            <a:r>
              <a:rPr lang="en" sz="1500">
                <a:latin typeface="Roboto" panose="02000000000000000000" pitchFamily="2" charset="0"/>
                <a:ea typeface="Roboto" panose="02000000000000000000" pitchFamily="2" charset="0"/>
                <a:cs typeface="Roboto" panose="02000000000000000000" pitchFamily="2" charset="0"/>
              </a:rPr>
              <a:t>Dataset provides four distinct measures of income (annual): total household income, net household income, net household income (equivalised) before housing costs, net household income (equivalised) after housing costs. </a:t>
            </a:r>
          </a:p>
          <a:p>
            <a:pPr marL="285750" indent="-285750">
              <a:lnSpc>
                <a:spcPct val="114999"/>
              </a:lnSpc>
            </a:pPr>
            <a:r>
              <a:rPr lang="en" sz="1500">
                <a:latin typeface="Roboto" panose="02000000000000000000" pitchFamily="2" charset="0"/>
                <a:ea typeface="Roboto" panose="02000000000000000000" pitchFamily="2" charset="0"/>
                <a:cs typeface="Roboto" panose="02000000000000000000" pitchFamily="2" charset="0"/>
              </a:rPr>
              <a:t>Total = sum of gross income and benefits over every member of the household.</a:t>
            </a:r>
          </a:p>
          <a:p>
            <a:pPr marL="285750" indent="-285750">
              <a:lnSpc>
                <a:spcPct val="114999"/>
              </a:lnSpc>
            </a:pPr>
            <a:r>
              <a:rPr lang="en" sz="1500">
                <a:latin typeface="Roboto" panose="02000000000000000000" pitchFamily="2" charset="0"/>
                <a:ea typeface="Roboto" panose="02000000000000000000" pitchFamily="2" charset="0"/>
                <a:cs typeface="Roboto" panose="02000000000000000000" pitchFamily="2" charset="0"/>
              </a:rPr>
              <a:t>Net = sum of net income (after taxes, deductions etc.) over every member of the household.</a:t>
            </a:r>
          </a:p>
          <a:p>
            <a:pPr marL="285750" indent="-285750">
              <a:lnSpc>
                <a:spcPct val="114999"/>
              </a:lnSpc>
            </a:pPr>
            <a:r>
              <a:rPr lang="en" sz="1500">
                <a:latin typeface="Roboto" panose="02000000000000000000" pitchFamily="2" charset="0"/>
                <a:ea typeface="Roboto" panose="02000000000000000000" pitchFamily="2" charset="0"/>
                <a:cs typeface="Roboto" panose="02000000000000000000" pitchFamily="2" charset="0"/>
              </a:rPr>
              <a:t>The data was then filtered by London borough to capture larger scale trends.</a:t>
            </a:r>
          </a:p>
          <a:p>
            <a:pPr marL="285750" indent="-285750">
              <a:lnSpc>
                <a:spcPct val="114999"/>
              </a:lnSpc>
            </a:pPr>
            <a:r>
              <a:rPr lang="en" sz="1500">
                <a:latin typeface="Roboto" panose="02000000000000000000" pitchFamily="2" charset="0"/>
                <a:ea typeface="Roboto" panose="02000000000000000000" pitchFamily="2" charset="0"/>
                <a:cs typeface="Roboto" panose="02000000000000000000" pitchFamily="2" charset="0"/>
              </a:rPr>
              <a:t>Appropriate for the task: data is taken</a:t>
            </a:r>
            <a:r>
              <a:rPr lang="en" sz="1500">
                <a:solidFill>
                  <a:srgbClr val="434343"/>
                </a:solidFill>
                <a:latin typeface="Roboto" panose="02000000000000000000" pitchFamily="2" charset="0"/>
                <a:ea typeface="Roboto" panose="02000000000000000000" pitchFamily="2" charset="0"/>
                <a:cs typeface="Roboto" panose="02000000000000000000" pitchFamily="2" charset="0"/>
              </a:rPr>
              <a:t> from essentially the same time period (financial year vs calendar year) and over the same geographical boundaries (MSOA and by local authority e.g. borough). Also contains disposable income measures.</a:t>
            </a:r>
          </a:p>
          <a:p>
            <a:pPr marL="0" indent="0">
              <a:lnSpc>
                <a:spcPct val="114999"/>
              </a:lnSpc>
              <a:buNone/>
            </a:pPr>
            <a:endParaRPr lang="en" sz="1600"/>
          </a:p>
          <a:p>
            <a:pPr marL="0" indent="0">
              <a:lnSpc>
                <a:spcPct val="114999"/>
              </a:lnSpc>
              <a:buNone/>
            </a:pPr>
            <a:endParaRPr lang="en" sz="1600"/>
          </a:p>
        </p:txBody>
      </p:sp>
    </p:spTree>
    <p:extLst>
      <p:ext uri="{BB962C8B-B14F-4D97-AF65-F5344CB8AC3E}">
        <p14:creationId xmlns:p14="http://schemas.microsoft.com/office/powerpoint/2010/main" val="4167947754"/>
      </p:ext>
    </p:extLst>
  </p:cSld>
  <p:clrMapOvr>
    <a:masterClrMapping/>
  </p:clrMapOvr>
  <mc:AlternateContent xmlns:mc="http://schemas.openxmlformats.org/markup-compatibility/2006" xmlns:p14="http://schemas.microsoft.com/office/powerpoint/2010/main">
    <mc:Choice Requires="p14">
      <p:transition spd="slow" p14:dur="2000" advTm="23117"/>
    </mc:Choice>
    <mc:Fallback xmlns="">
      <p:transition spd="slow" advTm="2311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CA95044B-06D2-A5B8-E281-34B91B89B979}"/>
            </a:ext>
          </a:extLst>
        </p:cNvPr>
        <p:cNvGrpSpPr/>
        <p:nvPr/>
      </p:nvGrpSpPr>
      <p:grpSpPr>
        <a:xfrm>
          <a:off x="0" y="0"/>
          <a:ext cx="0" cy="0"/>
          <a:chOff x="0" y="0"/>
          <a:chExt cx="0" cy="0"/>
        </a:xfrm>
      </p:grpSpPr>
      <p:sp>
        <p:nvSpPr>
          <p:cNvPr id="111" name="Google Shape;111;p15">
            <a:extLst>
              <a:ext uri="{FF2B5EF4-FFF2-40B4-BE49-F238E27FC236}">
                <a16:creationId xmlns:a16="http://schemas.microsoft.com/office/drawing/2014/main" id="{FDD8E30B-1E99-0916-3D40-C4ED5363056D}"/>
              </a:ext>
            </a:extLst>
          </p:cNvPr>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r>
              <a:rPr lang="en" sz="2000"/>
              <a:t>Task 3 - Assumptions and Limitations</a:t>
            </a:r>
          </a:p>
        </p:txBody>
      </p:sp>
      <p:sp>
        <p:nvSpPr>
          <p:cNvPr id="112" name="Google Shape;112;p15">
            <a:extLst>
              <a:ext uri="{FF2B5EF4-FFF2-40B4-BE49-F238E27FC236}">
                <a16:creationId xmlns:a16="http://schemas.microsoft.com/office/drawing/2014/main" id="{2748BD9F-14C4-A33A-6562-94B4DFA2D57F}"/>
              </a:ext>
            </a:extLst>
          </p:cNvPr>
          <p:cNvSpPr/>
          <p:nvPr/>
        </p:nvSpPr>
        <p:spPr>
          <a:xfrm>
            <a:off x="432350" y="1126282"/>
            <a:ext cx="2469300" cy="607800"/>
          </a:xfrm>
          <a:prstGeom prst="homePlate">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13" name="Google Shape;113;p15">
            <a:extLst>
              <a:ext uri="{FF2B5EF4-FFF2-40B4-BE49-F238E27FC236}">
                <a16:creationId xmlns:a16="http://schemas.microsoft.com/office/drawing/2014/main" id="{86E7E240-7144-BDE1-B1CD-3CFCE914B13D}"/>
              </a:ext>
            </a:extLst>
          </p:cNvPr>
          <p:cNvSpPr txBox="1">
            <a:spLocks noGrp="1"/>
          </p:cNvSpPr>
          <p:nvPr>
            <p:ph type="body" idx="4294967295"/>
          </p:nvPr>
        </p:nvSpPr>
        <p:spPr>
          <a:xfrm>
            <a:off x="432350" y="1272983"/>
            <a:ext cx="2257200" cy="314400"/>
          </a:xfrm>
          <a:prstGeom prst="rect">
            <a:avLst/>
          </a:prstGeom>
        </p:spPr>
        <p:txBody>
          <a:bodyPr spcFirstLastPara="1" wrap="square" lIns="91425" tIns="91425" rIns="91425" bIns="91425" anchor="ctr" anchorCtr="0">
            <a:noAutofit/>
          </a:bodyPr>
          <a:lstStyle/>
          <a:p>
            <a:pPr marL="0" indent="0">
              <a:lnSpc>
                <a:spcPct val="100000"/>
              </a:lnSpc>
              <a:buNone/>
            </a:pPr>
            <a:r>
              <a:rPr lang="en">
                <a:solidFill>
                  <a:schemeClr val="lt1"/>
                </a:solidFill>
              </a:rPr>
              <a:t>Limitation 1</a:t>
            </a:r>
            <a:endParaRPr lang="en-US"/>
          </a:p>
        </p:txBody>
      </p:sp>
      <p:sp>
        <p:nvSpPr>
          <p:cNvPr id="114" name="Google Shape;114;p15">
            <a:extLst>
              <a:ext uri="{FF2B5EF4-FFF2-40B4-BE49-F238E27FC236}">
                <a16:creationId xmlns:a16="http://schemas.microsoft.com/office/drawing/2014/main" id="{6B931AA4-AA90-EB0A-F341-E3181B483FF8}"/>
              </a:ext>
            </a:extLst>
          </p:cNvPr>
          <p:cNvSpPr txBox="1">
            <a:spLocks noGrp="1"/>
          </p:cNvSpPr>
          <p:nvPr>
            <p:ph type="body" idx="4294967295"/>
          </p:nvPr>
        </p:nvSpPr>
        <p:spPr>
          <a:xfrm>
            <a:off x="432350" y="1880075"/>
            <a:ext cx="4692137" cy="2386697"/>
          </a:xfrm>
          <a:prstGeom prst="rect">
            <a:avLst/>
          </a:prstGeom>
        </p:spPr>
        <p:txBody>
          <a:bodyPr spcFirstLastPara="1" wrap="square" lIns="91425" tIns="91425" rIns="91425" bIns="91425" anchor="t" anchorCtr="0">
            <a:noAutofit/>
          </a:bodyPr>
          <a:lstStyle/>
          <a:p>
            <a:pPr marL="0" indent="0">
              <a:lnSpc>
                <a:spcPct val="114999"/>
              </a:lnSpc>
              <a:buNone/>
            </a:pPr>
            <a:r>
              <a:rPr lang="en" sz="1600" b="1"/>
              <a:t>Mean over the MSOA hides variation</a:t>
            </a:r>
            <a:endParaRPr lang="en-US"/>
          </a:p>
          <a:p>
            <a:pPr marL="285750" indent="-285750">
              <a:lnSpc>
                <a:spcPct val="114999"/>
              </a:lnSpc>
              <a:spcBef>
                <a:spcPts val="800"/>
              </a:spcBef>
              <a:spcAft>
                <a:spcPts val="800"/>
              </a:spcAft>
            </a:pPr>
            <a:r>
              <a:rPr lang="en" sz="1600"/>
              <a:t>We assume the mean income over the MSOA is representative of the typical shopper. </a:t>
            </a:r>
          </a:p>
          <a:p>
            <a:pPr marL="285750" indent="-285750">
              <a:lnSpc>
                <a:spcPct val="114999"/>
              </a:lnSpc>
              <a:spcBef>
                <a:spcPts val="800"/>
              </a:spcBef>
              <a:spcAft>
                <a:spcPts val="800"/>
              </a:spcAft>
            </a:pPr>
            <a:r>
              <a:rPr lang="en" sz="1600"/>
              <a:t>Have no idea how income is distributed.                     </a:t>
            </a:r>
            <a:endParaRPr lang="en" sz="1600">
              <a:solidFill>
                <a:srgbClr val="434343"/>
              </a:solidFill>
            </a:endParaRPr>
          </a:p>
          <a:p>
            <a:pPr marL="0" indent="0">
              <a:lnSpc>
                <a:spcPct val="114999"/>
              </a:lnSpc>
              <a:spcBef>
                <a:spcPts val="800"/>
              </a:spcBef>
              <a:spcAft>
                <a:spcPts val="800"/>
              </a:spcAft>
              <a:buNone/>
            </a:pPr>
            <a:endParaRPr lang="en" sz="1600"/>
          </a:p>
        </p:txBody>
      </p:sp>
      <p:sp>
        <p:nvSpPr>
          <p:cNvPr id="115" name="Google Shape;115;p15">
            <a:extLst>
              <a:ext uri="{FF2B5EF4-FFF2-40B4-BE49-F238E27FC236}">
                <a16:creationId xmlns:a16="http://schemas.microsoft.com/office/drawing/2014/main" id="{D1768BF5-79F9-B819-F4A0-B710B33882DC}"/>
              </a:ext>
            </a:extLst>
          </p:cNvPr>
          <p:cNvSpPr/>
          <p:nvPr/>
        </p:nvSpPr>
        <p:spPr>
          <a:xfrm>
            <a:off x="5448139" y="1126282"/>
            <a:ext cx="27606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116" name="Google Shape;116;p15">
            <a:extLst>
              <a:ext uri="{FF2B5EF4-FFF2-40B4-BE49-F238E27FC236}">
                <a16:creationId xmlns:a16="http://schemas.microsoft.com/office/drawing/2014/main" id="{5965BE78-65D3-AC8A-E3FA-753A8B98DDD2}"/>
              </a:ext>
            </a:extLst>
          </p:cNvPr>
          <p:cNvSpPr txBox="1">
            <a:spLocks noGrp="1"/>
          </p:cNvSpPr>
          <p:nvPr>
            <p:ph type="body" idx="4294967295"/>
          </p:nvPr>
        </p:nvSpPr>
        <p:spPr>
          <a:xfrm>
            <a:off x="5775230" y="1272983"/>
            <a:ext cx="2257200" cy="314400"/>
          </a:xfrm>
          <a:prstGeom prst="rect">
            <a:avLst/>
          </a:prstGeom>
        </p:spPr>
        <p:txBody>
          <a:bodyPr spcFirstLastPara="1" wrap="square" lIns="91425" tIns="91425" rIns="91425" bIns="91425" anchor="ctr" anchorCtr="0">
            <a:noAutofit/>
          </a:bodyPr>
          <a:lstStyle/>
          <a:p>
            <a:pPr marL="0" indent="0">
              <a:lnSpc>
                <a:spcPct val="100000"/>
              </a:lnSpc>
              <a:buNone/>
            </a:pPr>
            <a:r>
              <a:rPr lang="en">
                <a:solidFill>
                  <a:schemeClr val="lt1"/>
                </a:solidFill>
              </a:rPr>
              <a:t>Limitation 2</a:t>
            </a:r>
            <a:endParaRPr>
              <a:solidFill>
                <a:schemeClr val="lt1"/>
              </a:solidFill>
            </a:endParaRPr>
          </a:p>
        </p:txBody>
      </p:sp>
      <p:sp>
        <p:nvSpPr>
          <p:cNvPr id="120" name="Google Shape;120;p15">
            <a:extLst>
              <a:ext uri="{FF2B5EF4-FFF2-40B4-BE49-F238E27FC236}">
                <a16:creationId xmlns:a16="http://schemas.microsoft.com/office/drawing/2014/main" id="{449F61B6-166D-D21A-5A7B-E0430D4AA81A}"/>
              </a:ext>
            </a:extLst>
          </p:cNvPr>
          <p:cNvSpPr txBox="1">
            <a:spLocks noGrp="1"/>
          </p:cNvSpPr>
          <p:nvPr>
            <p:ph type="body" idx="4294967295"/>
          </p:nvPr>
        </p:nvSpPr>
        <p:spPr>
          <a:xfrm>
            <a:off x="5126532" y="1880074"/>
            <a:ext cx="3774274" cy="2834806"/>
          </a:xfrm>
          <a:prstGeom prst="rect">
            <a:avLst/>
          </a:prstGeom>
        </p:spPr>
        <p:txBody>
          <a:bodyPr spcFirstLastPara="1" wrap="square" lIns="91425" tIns="91425" rIns="91425" bIns="91425" anchor="t" anchorCtr="0">
            <a:noAutofit/>
          </a:bodyPr>
          <a:lstStyle/>
          <a:p>
            <a:pPr>
              <a:lnSpc>
                <a:spcPct val="114999"/>
              </a:lnSpc>
              <a:buNone/>
            </a:pPr>
            <a:r>
              <a:rPr lang="en" sz="1600" b="1"/>
              <a:t>Shrinkage to the mean</a:t>
            </a:r>
            <a:endParaRPr lang="en-US"/>
          </a:p>
          <a:p>
            <a:pPr marL="285750" indent="-285750">
              <a:lnSpc>
                <a:spcPct val="114999"/>
              </a:lnSpc>
              <a:spcBef>
                <a:spcPts val="800"/>
              </a:spcBef>
              <a:spcAft>
                <a:spcPts val="800"/>
              </a:spcAft>
            </a:pPr>
            <a:r>
              <a:rPr lang="en" sz="1600"/>
              <a:t>The estimation procedure used shrinks income estimates towards the mean --&gt; over and under estimation. </a:t>
            </a:r>
          </a:p>
          <a:p>
            <a:pPr marL="285750" indent="-285750">
              <a:lnSpc>
                <a:spcPct val="114999"/>
              </a:lnSpc>
              <a:spcBef>
                <a:spcPts val="800"/>
              </a:spcBef>
              <a:spcAft>
                <a:spcPts val="800"/>
              </a:spcAft>
            </a:pPr>
            <a:r>
              <a:rPr lang="en" sz="1600"/>
              <a:t>Confidence intervals should be used to see variability.</a:t>
            </a:r>
          </a:p>
        </p:txBody>
      </p:sp>
    </p:spTree>
    <p:extLst>
      <p:ext uri="{BB962C8B-B14F-4D97-AF65-F5344CB8AC3E}">
        <p14:creationId xmlns:p14="http://schemas.microsoft.com/office/powerpoint/2010/main" val="362868381"/>
      </p:ext>
    </p:extLst>
  </p:cSld>
  <p:clrMapOvr>
    <a:masterClrMapping/>
  </p:clrMapOvr>
  <mc:AlternateContent xmlns:mc="http://schemas.openxmlformats.org/markup-compatibility/2006" xmlns:p14="http://schemas.microsoft.com/office/powerpoint/2010/main">
    <mc:Choice Requires="p14">
      <p:transition spd="slow" p14:dur="2000" advTm="18211"/>
    </mc:Choice>
    <mc:Fallback xmlns="">
      <p:transition spd="slow" advTm="1821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85896CF5-2EEF-1907-80D6-721CB31F3078}"/>
            </a:ext>
          </a:extLst>
        </p:cNvPr>
        <p:cNvGrpSpPr/>
        <p:nvPr/>
      </p:nvGrpSpPr>
      <p:grpSpPr>
        <a:xfrm>
          <a:off x="0" y="0"/>
          <a:ext cx="0" cy="0"/>
          <a:chOff x="0" y="0"/>
          <a:chExt cx="0" cy="0"/>
        </a:xfrm>
      </p:grpSpPr>
      <p:sp>
        <p:nvSpPr>
          <p:cNvPr id="125" name="Google Shape;125;p16">
            <a:extLst>
              <a:ext uri="{FF2B5EF4-FFF2-40B4-BE49-F238E27FC236}">
                <a16:creationId xmlns:a16="http://schemas.microsoft.com/office/drawing/2014/main" id="{60B444D3-CBE2-50CE-36AE-88BB471B934D}"/>
              </a:ext>
            </a:extLst>
          </p:cNvPr>
          <p:cNvSpPr txBox="1">
            <a:spLocks noGrp="1"/>
          </p:cNvSpPr>
          <p:nvPr>
            <p:ph type="title"/>
          </p:nvPr>
        </p:nvSpPr>
        <p:spPr>
          <a:xfrm>
            <a:off x="9548" y="116595"/>
            <a:ext cx="4560415" cy="827204"/>
          </a:xfrm>
          <a:prstGeom prst="rect">
            <a:avLst/>
          </a:prstGeom>
        </p:spPr>
        <p:txBody>
          <a:bodyPr spcFirstLastPara="1" wrap="square" lIns="91425" tIns="91425" rIns="91425" bIns="91425" anchor="b" anchorCtr="0">
            <a:noAutofit/>
          </a:bodyPr>
          <a:lstStyle/>
          <a:p>
            <a:r>
              <a:rPr lang="en" sz="2000">
                <a:solidFill>
                  <a:schemeClr val="tx1"/>
                </a:solidFill>
              </a:rPr>
              <a:t>Task 3 – Preliminary Analysis of Income Dataset</a:t>
            </a:r>
            <a:endParaRPr lang="en-US" sz="2000">
              <a:solidFill>
                <a:schemeClr val="tx1"/>
              </a:solidFill>
            </a:endParaRPr>
          </a:p>
        </p:txBody>
      </p:sp>
      <p:sp>
        <p:nvSpPr>
          <p:cNvPr id="126" name="Google Shape;126;p16">
            <a:extLst>
              <a:ext uri="{FF2B5EF4-FFF2-40B4-BE49-F238E27FC236}">
                <a16:creationId xmlns:a16="http://schemas.microsoft.com/office/drawing/2014/main" id="{B3A41028-1F6E-0A7E-BA6C-D71F4646D67B}"/>
              </a:ext>
            </a:extLst>
          </p:cNvPr>
          <p:cNvSpPr txBox="1">
            <a:spLocks noGrp="1"/>
          </p:cNvSpPr>
          <p:nvPr>
            <p:ph type="subTitle" idx="1"/>
          </p:nvPr>
        </p:nvSpPr>
        <p:spPr>
          <a:xfrm>
            <a:off x="186040" y="944187"/>
            <a:ext cx="4209467" cy="1134064"/>
          </a:xfrm>
          <a:prstGeom prst="rect">
            <a:avLst/>
          </a:prstGeom>
        </p:spPr>
        <p:txBody>
          <a:bodyPr spcFirstLastPara="1" wrap="square" lIns="91425" tIns="91425" rIns="91425" bIns="91425" anchor="t" anchorCtr="0">
            <a:noAutofit/>
          </a:bodyPr>
          <a:lstStyle/>
          <a:p>
            <a:pPr marL="0" indent="0"/>
            <a:r>
              <a:rPr lang="en-US" sz="1600" i="1">
                <a:solidFill>
                  <a:schemeClr val="accent2">
                    <a:lumMod val="76000"/>
                  </a:schemeClr>
                </a:solidFill>
              </a:rPr>
              <a:t>Insight 1</a:t>
            </a:r>
            <a:endParaRPr lang="en-US" i="1">
              <a:solidFill>
                <a:schemeClr val="accent2">
                  <a:lumMod val="76000"/>
                </a:schemeClr>
              </a:solidFill>
            </a:endParaRPr>
          </a:p>
        </p:txBody>
      </p:sp>
      <p:sp>
        <p:nvSpPr>
          <p:cNvPr id="127" name="Google Shape;127;p16">
            <a:extLst>
              <a:ext uri="{FF2B5EF4-FFF2-40B4-BE49-F238E27FC236}">
                <a16:creationId xmlns:a16="http://schemas.microsoft.com/office/drawing/2014/main" id="{A1710156-472E-7F04-CA33-49987292CCB2}"/>
              </a:ext>
            </a:extLst>
          </p:cNvPr>
          <p:cNvSpPr txBox="1">
            <a:spLocks noGrp="1"/>
          </p:cNvSpPr>
          <p:nvPr>
            <p:ph type="body" idx="2"/>
          </p:nvPr>
        </p:nvSpPr>
        <p:spPr>
          <a:xfrm>
            <a:off x="4916083" y="248241"/>
            <a:ext cx="4041877" cy="4647017"/>
          </a:xfrm>
          <a:prstGeom prst="rect">
            <a:avLst/>
          </a:prstGeom>
        </p:spPr>
        <p:txBody>
          <a:bodyPr spcFirstLastPara="1" wrap="square" lIns="91425" tIns="91425" rIns="91425" bIns="91425" anchor="ctr" anchorCtr="0">
            <a:noAutofit/>
          </a:bodyPr>
          <a:lstStyle/>
          <a:p>
            <a:pPr marL="114300" indent="0">
              <a:lnSpc>
                <a:spcPct val="114999"/>
              </a:lnSpc>
              <a:buNone/>
            </a:pPr>
            <a:endParaRPr lang="en" sz="1400"/>
          </a:p>
          <a:p>
            <a:pPr marL="114300" indent="0">
              <a:lnSpc>
                <a:spcPct val="114999"/>
              </a:lnSpc>
              <a:buNone/>
            </a:pPr>
            <a:endParaRPr lang="en" sz="1400">
              <a:latin typeface="Trebuchet MS"/>
              <a:ea typeface="Roboto" panose="02000000000000000000" pitchFamily="2" charset="0"/>
              <a:cs typeface="Roboto" panose="02000000000000000000" pitchFamily="2" charset="0"/>
            </a:endParaRPr>
          </a:p>
          <a:p>
            <a:pPr marL="285750" indent="-285750">
              <a:lnSpc>
                <a:spcPct val="114999"/>
              </a:lnSpc>
              <a:spcAft>
                <a:spcPts val="1600"/>
              </a:spcAft>
            </a:pPr>
            <a:r>
              <a:rPr lang="en" sz="1400">
                <a:solidFill>
                  <a:srgbClr val="FFFFFF"/>
                </a:solidFill>
              </a:rPr>
              <a:t>Roughly normally distributed with most MSOAs having average net annual income after housing costs around £20,000 to £40,000.</a:t>
            </a:r>
            <a:endParaRPr lang="en" sz="1400">
              <a:solidFill>
                <a:srgbClr val="FFFFFF"/>
              </a:solidFill>
              <a:ea typeface="Roboto" panose="02000000000000000000" pitchFamily="2" charset="0"/>
              <a:cs typeface="Roboto" panose="02000000000000000000" pitchFamily="2" charset="0"/>
            </a:endParaRPr>
          </a:p>
          <a:p>
            <a:pPr marL="285750" indent="-285750">
              <a:lnSpc>
                <a:spcPct val="114999"/>
              </a:lnSpc>
              <a:spcAft>
                <a:spcPts val="1600"/>
              </a:spcAft>
            </a:pPr>
            <a:r>
              <a:rPr lang="en" sz="1400"/>
              <a:t>Positively skewed: Few high income MSOAs skew the distribution to the right. Although there are very few: very high disposable income --&gt; opportunity to target for premium products.</a:t>
            </a:r>
          </a:p>
          <a:p>
            <a:pPr>
              <a:lnSpc>
                <a:spcPct val="114999"/>
              </a:lnSpc>
            </a:pPr>
            <a:endParaRPr lang="en" sz="1400"/>
          </a:p>
          <a:p>
            <a:pPr marL="285750" indent="-285750">
              <a:lnSpc>
                <a:spcPct val="114999"/>
              </a:lnSpc>
              <a:spcAft>
                <a:spcPts val="1600"/>
              </a:spcAft>
            </a:pPr>
            <a:endParaRPr lang="en" sz="1400">
              <a:latin typeface="Trebuchet MS"/>
            </a:endParaRPr>
          </a:p>
        </p:txBody>
      </p:sp>
      <p:pic>
        <p:nvPicPr>
          <p:cNvPr id="4" name="Picture 3" descr="A graph of a number of people&#10;&#10;AI-generated content may be incorrect.">
            <a:extLst>
              <a:ext uri="{FF2B5EF4-FFF2-40B4-BE49-F238E27FC236}">
                <a16:creationId xmlns:a16="http://schemas.microsoft.com/office/drawing/2014/main" id="{DB973B14-1EF7-EF6F-55DB-F54AB12C3F12}"/>
              </a:ext>
            </a:extLst>
          </p:cNvPr>
          <p:cNvPicPr>
            <a:picLocks noChangeAspect="1"/>
          </p:cNvPicPr>
          <p:nvPr/>
        </p:nvPicPr>
        <p:blipFill>
          <a:blip r:embed="rId3"/>
          <a:stretch>
            <a:fillRect/>
          </a:stretch>
        </p:blipFill>
        <p:spPr>
          <a:xfrm>
            <a:off x="166118" y="1511011"/>
            <a:ext cx="4244093" cy="2792558"/>
          </a:xfrm>
          <a:prstGeom prst="rect">
            <a:avLst/>
          </a:prstGeom>
        </p:spPr>
      </p:pic>
    </p:spTree>
    <p:extLst>
      <p:ext uri="{BB962C8B-B14F-4D97-AF65-F5344CB8AC3E}">
        <p14:creationId xmlns:p14="http://schemas.microsoft.com/office/powerpoint/2010/main" val="1974121575"/>
      </p:ext>
    </p:extLst>
  </p:cSld>
  <p:clrMapOvr>
    <a:masterClrMapping/>
  </p:clrMapOvr>
  <mc:AlternateContent xmlns:mc="http://schemas.openxmlformats.org/markup-compatibility/2006" xmlns:p14="http://schemas.microsoft.com/office/powerpoint/2010/main">
    <mc:Choice Requires="p14">
      <p:transition spd="slow" p14:dur="2000" advTm="18863"/>
    </mc:Choice>
    <mc:Fallback xmlns="">
      <p:transition spd="slow" advTm="1886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BF7C0250-370D-C808-0150-A900F7582D48}"/>
            </a:ext>
          </a:extLst>
        </p:cNvPr>
        <p:cNvGrpSpPr/>
        <p:nvPr/>
      </p:nvGrpSpPr>
      <p:grpSpPr>
        <a:xfrm>
          <a:off x="0" y="0"/>
          <a:ext cx="0" cy="0"/>
          <a:chOff x="0" y="0"/>
          <a:chExt cx="0" cy="0"/>
        </a:xfrm>
      </p:grpSpPr>
      <p:sp>
        <p:nvSpPr>
          <p:cNvPr id="125" name="Google Shape;125;p16">
            <a:extLst>
              <a:ext uri="{FF2B5EF4-FFF2-40B4-BE49-F238E27FC236}">
                <a16:creationId xmlns:a16="http://schemas.microsoft.com/office/drawing/2014/main" id="{87B004AD-64CF-8999-034E-680032C57396}"/>
              </a:ext>
            </a:extLst>
          </p:cNvPr>
          <p:cNvSpPr txBox="1">
            <a:spLocks noGrp="1"/>
          </p:cNvSpPr>
          <p:nvPr>
            <p:ph type="title"/>
          </p:nvPr>
        </p:nvSpPr>
        <p:spPr>
          <a:xfrm>
            <a:off x="9548" y="116595"/>
            <a:ext cx="4560415" cy="827204"/>
          </a:xfrm>
          <a:prstGeom prst="rect">
            <a:avLst/>
          </a:prstGeom>
        </p:spPr>
        <p:txBody>
          <a:bodyPr spcFirstLastPara="1" wrap="square" lIns="91425" tIns="91425" rIns="91425" bIns="91425" anchor="b" anchorCtr="0">
            <a:noAutofit/>
          </a:bodyPr>
          <a:lstStyle/>
          <a:p>
            <a:r>
              <a:rPr lang="en" sz="2000">
                <a:solidFill>
                  <a:schemeClr val="tx1"/>
                </a:solidFill>
              </a:rPr>
              <a:t>Task 3 – Preliminary Analysis of Income Dataset</a:t>
            </a:r>
            <a:endParaRPr lang="en-US" sz="2000">
              <a:solidFill>
                <a:schemeClr val="tx1"/>
              </a:solidFill>
            </a:endParaRPr>
          </a:p>
        </p:txBody>
      </p:sp>
      <p:sp>
        <p:nvSpPr>
          <p:cNvPr id="126" name="Google Shape;126;p16">
            <a:extLst>
              <a:ext uri="{FF2B5EF4-FFF2-40B4-BE49-F238E27FC236}">
                <a16:creationId xmlns:a16="http://schemas.microsoft.com/office/drawing/2014/main" id="{5A4AC394-FDFB-9BD1-D904-EE22D0FE1A9F}"/>
              </a:ext>
            </a:extLst>
          </p:cNvPr>
          <p:cNvSpPr txBox="1">
            <a:spLocks noGrp="1"/>
          </p:cNvSpPr>
          <p:nvPr>
            <p:ph type="subTitle" idx="1"/>
          </p:nvPr>
        </p:nvSpPr>
        <p:spPr>
          <a:xfrm>
            <a:off x="186040" y="944187"/>
            <a:ext cx="4209467" cy="1134064"/>
          </a:xfrm>
          <a:prstGeom prst="rect">
            <a:avLst/>
          </a:prstGeom>
        </p:spPr>
        <p:txBody>
          <a:bodyPr spcFirstLastPara="1" wrap="square" lIns="91425" tIns="91425" rIns="91425" bIns="91425" anchor="t" anchorCtr="0">
            <a:noAutofit/>
          </a:bodyPr>
          <a:lstStyle/>
          <a:p>
            <a:pPr marL="0" indent="0"/>
            <a:r>
              <a:rPr lang="en-US" sz="1600" i="1">
                <a:solidFill>
                  <a:schemeClr val="accent2">
                    <a:lumMod val="76000"/>
                  </a:schemeClr>
                </a:solidFill>
                <a:latin typeface="Roboto" panose="02000000000000000000" pitchFamily="2" charset="0"/>
                <a:ea typeface="Roboto" panose="02000000000000000000" pitchFamily="2" charset="0"/>
                <a:cs typeface="Roboto" panose="02000000000000000000" pitchFamily="2" charset="0"/>
              </a:rPr>
              <a:t>Insight 2</a:t>
            </a:r>
            <a:endParaRPr lang="en-US">
              <a:latin typeface="Roboto" panose="02000000000000000000" pitchFamily="2" charset="0"/>
              <a:ea typeface="Roboto" panose="02000000000000000000" pitchFamily="2" charset="0"/>
              <a:cs typeface="Roboto" panose="02000000000000000000" pitchFamily="2" charset="0"/>
            </a:endParaRPr>
          </a:p>
        </p:txBody>
      </p:sp>
      <p:sp>
        <p:nvSpPr>
          <p:cNvPr id="127" name="Google Shape;127;p16">
            <a:extLst>
              <a:ext uri="{FF2B5EF4-FFF2-40B4-BE49-F238E27FC236}">
                <a16:creationId xmlns:a16="http://schemas.microsoft.com/office/drawing/2014/main" id="{80BCDFE0-3495-8C98-41B6-2186D8F2B79B}"/>
              </a:ext>
            </a:extLst>
          </p:cNvPr>
          <p:cNvSpPr txBox="1">
            <a:spLocks noGrp="1"/>
          </p:cNvSpPr>
          <p:nvPr>
            <p:ph type="body" idx="2"/>
          </p:nvPr>
        </p:nvSpPr>
        <p:spPr>
          <a:xfrm>
            <a:off x="4866398" y="119560"/>
            <a:ext cx="4041877" cy="4647017"/>
          </a:xfrm>
          <a:prstGeom prst="rect">
            <a:avLst/>
          </a:prstGeom>
        </p:spPr>
        <p:txBody>
          <a:bodyPr spcFirstLastPara="1" wrap="square" lIns="91425" tIns="91425" rIns="91425" bIns="91425" anchor="ctr" anchorCtr="0">
            <a:noAutofit/>
          </a:bodyPr>
          <a:lstStyle/>
          <a:p>
            <a:pPr marL="285750" indent="-285750">
              <a:lnSpc>
                <a:spcPct val="114999"/>
              </a:lnSpc>
              <a:spcAft>
                <a:spcPts val="1600"/>
              </a:spcAft>
            </a:pPr>
            <a:r>
              <a:rPr lang="en" sz="1400"/>
              <a:t>Highest average income boroughs are located in Central, Central West and South West London.</a:t>
            </a:r>
            <a:endParaRPr lang="en-US"/>
          </a:p>
          <a:p>
            <a:pPr marL="285750" indent="-285750">
              <a:lnSpc>
                <a:spcPct val="114999"/>
              </a:lnSpc>
              <a:spcAft>
                <a:spcPts val="1600"/>
              </a:spcAft>
            </a:pPr>
            <a:r>
              <a:rPr lang="en" sz="1400"/>
              <a:t>City of London has the highest mean annual income, along with boroughs like Kensington and Chelsea, Westminster and Richmond upon Thames --&gt; sell more premium products here?</a:t>
            </a:r>
            <a:endParaRPr lang="en"/>
          </a:p>
          <a:p>
            <a:pPr marL="285750" indent="-285750">
              <a:lnSpc>
                <a:spcPct val="114999"/>
              </a:lnSpc>
              <a:spcAft>
                <a:spcPts val="1600"/>
              </a:spcAft>
            </a:pPr>
            <a:r>
              <a:rPr lang="en" sz="1400"/>
              <a:t>East London (like Barking and Dagenham etc.) and North London boroughs (like Enfield) have lower mean annual incomes.</a:t>
            </a:r>
          </a:p>
        </p:txBody>
      </p:sp>
      <p:pic>
        <p:nvPicPr>
          <p:cNvPr id="5" name="Picture 4" descr="A map of a country&#10;&#10;AI-generated content may be incorrect.">
            <a:extLst>
              <a:ext uri="{FF2B5EF4-FFF2-40B4-BE49-F238E27FC236}">
                <a16:creationId xmlns:a16="http://schemas.microsoft.com/office/drawing/2014/main" id="{C0B43F02-8395-E33B-F788-07A0DE0F3327}"/>
              </a:ext>
            </a:extLst>
          </p:cNvPr>
          <p:cNvPicPr>
            <a:picLocks noChangeAspect="1"/>
          </p:cNvPicPr>
          <p:nvPr/>
        </p:nvPicPr>
        <p:blipFill>
          <a:blip r:embed="rId3"/>
          <a:stretch>
            <a:fillRect/>
          </a:stretch>
        </p:blipFill>
        <p:spPr>
          <a:xfrm>
            <a:off x="290601" y="1285875"/>
            <a:ext cx="3990798" cy="3745055"/>
          </a:xfrm>
          <a:prstGeom prst="rect">
            <a:avLst/>
          </a:prstGeom>
        </p:spPr>
      </p:pic>
      <p:sp>
        <p:nvSpPr>
          <p:cNvPr id="3" name="TextBox 2">
            <a:extLst>
              <a:ext uri="{FF2B5EF4-FFF2-40B4-BE49-F238E27FC236}">
                <a16:creationId xmlns:a16="http://schemas.microsoft.com/office/drawing/2014/main" id="{40DDABE3-63D3-BFDC-66B8-DDB6DAA7494A}"/>
              </a:ext>
            </a:extLst>
          </p:cNvPr>
          <p:cNvSpPr txBox="1"/>
          <p:nvPr/>
        </p:nvSpPr>
        <p:spPr>
          <a:xfrm>
            <a:off x="4987059" y="4575522"/>
            <a:ext cx="403357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solidFill>
                  <a:schemeClr val="bg1"/>
                </a:solidFill>
                <a:latin typeface="Roboto"/>
                <a:ea typeface="Roboto"/>
                <a:cs typeface="Roboto"/>
              </a:rPr>
              <a:t>Plotted using </a:t>
            </a:r>
            <a:r>
              <a:rPr lang="en-GB" sz="1200" err="1">
                <a:solidFill>
                  <a:schemeClr val="bg1"/>
                </a:solidFill>
                <a:latin typeface="Roboto"/>
                <a:ea typeface="Roboto"/>
                <a:cs typeface="Roboto"/>
              </a:rPr>
              <a:t>london_boroughs.geojson</a:t>
            </a:r>
            <a:r>
              <a:rPr lang="en-GB" sz="1200">
                <a:solidFill>
                  <a:schemeClr val="bg1"/>
                </a:solidFill>
                <a:latin typeface="Roboto"/>
                <a:ea typeface="Roboto"/>
                <a:cs typeface="Roboto"/>
              </a:rPr>
              <a:t>  </a:t>
            </a:r>
            <a:endParaRPr lang="en-US">
              <a:solidFill>
                <a:schemeClr val="bg1"/>
              </a:solidFill>
              <a:latin typeface="Roboto"/>
              <a:ea typeface="Roboto"/>
              <a:cs typeface="Roboto"/>
            </a:endParaRPr>
          </a:p>
          <a:p>
            <a:r>
              <a:rPr lang="en-GB" sz="1200">
                <a:solidFill>
                  <a:schemeClr val="bg1"/>
                </a:solidFill>
                <a:latin typeface="Times New Roman"/>
                <a:ea typeface="Roboto"/>
                <a:cs typeface="Times New Roman"/>
              </a:rPr>
              <a:t>(</a:t>
            </a:r>
            <a:r>
              <a:rPr lang="en-GB" sz="1200">
                <a:solidFill>
                  <a:schemeClr val="bg1"/>
                </a:solidFill>
                <a:latin typeface="Roboto"/>
                <a:ea typeface="Roboto"/>
                <a:cs typeface="Roboto"/>
              </a:rPr>
              <a:t>https://github.com/radoi90/housequest-data, n.d.</a:t>
            </a:r>
            <a:r>
              <a:rPr lang="en-GB" sz="1200">
                <a:solidFill>
                  <a:schemeClr val="bg1"/>
                </a:solidFill>
                <a:latin typeface="Times New Roman"/>
                <a:ea typeface="Roboto"/>
                <a:cs typeface="Times New Roman"/>
              </a:rPr>
              <a:t>)</a:t>
            </a:r>
            <a:endParaRPr lang="en-US">
              <a:solidFill>
                <a:schemeClr val="bg1"/>
              </a:solidFill>
              <a:latin typeface="Roboto"/>
              <a:cs typeface="Roboto"/>
            </a:endParaRPr>
          </a:p>
        </p:txBody>
      </p:sp>
    </p:spTree>
    <p:extLst>
      <p:ext uri="{BB962C8B-B14F-4D97-AF65-F5344CB8AC3E}">
        <p14:creationId xmlns:p14="http://schemas.microsoft.com/office/powerpoint/2010/main" val="2803872402"/>
      </p:ext>
    </p:extLst>
  </p:cSld>
  <p:clrMapOvr>
    <a:masterClrMapping/>
  </p:clrMapOvr>
  <mc:AlternateContent xmlns:mc="http://schemas.openxmlformats.org/markup-compatibility/2006" xmlns:p14="http://schemas.microsoft.com/office/powerpoint/2010/main">
    <mc:Choice Requires="p14">
      <p:transition spd="slow" p14:dur="2000" advTm="18690"/>
    </mc:Choice>
    <mc:Fallback xmlns="">
      <p:transition spd="slow" advTm="18690"/>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B5B444B2-CE82-AD5F-FC0D-CDAEF7C87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DDD31-1ED3-A69E-C451-CC85579DC53B}"/>
              </a:ext>
            </a:extLst>
          </p:cNvPr>
          <p:cNvSpPr>
            <a:spLocks noGrp="1"/>
          </p:cNvSpPr>
          <p:nvPr>
            <p:ph type="title"/>
          </p:nvPr>
        </p:nvSpPr>
        <p:spPr>
          <a:xfrm>
            <a:off x="317693" y="62411"/>
            <a:ext cx="8222100" cy="838800"/>
          </a:xfrm>
        </p:spPr>
        <p:txBody>
          <a:bodyPr/>
          <a:lstStyle/>
          <a:p>
            <a:br>
              <a:rPr lang="en-US" sz="2000">
                <a:latin typeface="Roboto" panose="02000000000000000000" pitchFamily="2" charset="0"/>
                <a:ea typeface="Roboto" panose="02000000000000000000" pitchFamily="2" charset="0"/>
                <a:cs typeface="Roboto" panose="02000000000000000000" pitchFamily="2" charset="0"/>
              </a:rPr>
            </a:br>
            <a:r>
              <a:rPr lang="en-US" sz="2000">
                <a:solidFill>
                  <a:schemeClr val="tx1"/>
                </a:solidFill>
              </a:rPr>
              <a:t>Task 3 — Combining Datasets</a:t>
            </a:r>
          </a:p>
          <a:p>
            <a:endParaRPr lang="en-US" sz="1900" b="1">
              <a:solidFill>
                <a:schemeClr val="bg1"/>
              </a:solidFill>
              <a:latin typeface="Trebuchet MS"/>
            </a:endParaRPr>
          </a:p>
          <a:p>
            <a:endParaRPr lang="en-US">
              <a:solidFill>
                <a:schemeClr val="bg1"/>
              </a:solidFill>
            </a:endParaRPr>
          </a:p>
        </p:txBody>
      </p:sp>
      <p:sp>
        <p:nvSpPr>
          <p:cNvPr id="5" name="TextBox 4">
            <a:extLst>
              <a:ext uri="{FF2B5EF4-FFF2-40B4-BE49-F238E27FC236}">
                <a16:creationId xmlns:a16="http://schemas.microsoft.com/office/drawing/2014/main" id="{75913C4A-2BBA-368A-43FA-9AA8181D0E53}"/>
              </a:ext>
            </a:extLst>
          </p:cNvPr>
          <p:cNvSpPr txBox="1"/>
          <p:nvPr/>
        </p:nvSpPr>
        <p:spPr>
          <a:xfrm>
            <a:off x="5190571" y="364149"/>
            <a:ext cx="3602118" cy="4493538"/>
          </a:xfrm>
          <a:prstGeom prst="rect">
            <a:avLst/>
          </a:prstGeom>
          <a:gradFill>
            <a:gsLst>
              <a:gs pos="100000">
                <a:schemeClr val="accent1">
                  <a:lumMod val="5000"/>
                  <a:lumOff val="95000"/>
                </a:schemeClr>
              </a:gs>
              <a:gs pos="100000">
                <a:schemeClr val="accent1">
                  <a:lumMod val="45000"/>
                  <a:lumOff val="55000"/>
                </a:schemeClr>
              </a:gs>
              <a:gs pos="100000">
                <a:schemeClr val="accent1">
                  <a:lumMod val="30000"/>
                  <a:lumOff val="70000"/>
                </a:schemeClr>
              </a:gs>
            </a:gsLst>
            <a:lin ang="5400000" scaled="1"/>
          </a:gra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lr>
                <a:schemeClr val="bg1"/>
              </a:buClr>
            </a:pPr>
            <a:r>
              <a:rPr lang="en-GB" sz="1100" b="1">
                <a:solidFill>
                  <a:schemeClr val="tx1"/>
                </a:solidFill>
                <a:latin typeface="Roboto"/>
                <a:ea typeface="Roboto"/>
                <a:cs typeface="Roboto"/>
              </a:rPr>
              <a:t>Wealthier boroughs spend less per visit but shop more often</a:t>
            </a:r>
            <a:r>
              <a:rPr lang="en-GB" sz="1100">
                <a:solidFill>
                  <a:schemeClr val="tx1"/>
                </a:solidFill>
                <a:latin typeface="Roboto"/>
                <a:ea typeface="Roboto"/>
                <a:cs typeface="Roboto"/>
              </a:rPr>
              <a:t> </a:t>
            </a:r>
          </a:p>
          <a:p>
            <a:r>
              <a:rPr lang="en-GB" sz="1100">
                <a:solidFill>
                  <a:schemeClr val="tx1"/>
                </a:solidFill>
                <a:latin typeface="Roboto"/>
                <a:ea typeface="Roboto"/>
                <a:cs typeface="Roboto"/>
              </a:rPr>
              <a:t>Average income has a near-zero relationship with transactions per capita (r = −0.10), but a strong negative correlation with total transaction volume (r = −0.41), suggesting wealthier areas have smaller and more frequent basket behaviour.</a:t>
            </a:r>
          </a:p>
          <a:p>
            <a:endParaRPr lang="en-GB" sz="1100" b="1">
              <a:solidFill>
                <a:schemeClr val="tx1"/>
              </a:solidFill>
              <a:latin typeface="Roboto"/>
              <a:ea typeface="Roboto" panose="02000000000000000000" pitchFamily="2" charset="0"/>
              <a:cs typeface="Roboto" panose="02000000000000000000" pitchFamily="2" charset="0"/>
            </a:endParaRPr>
          </a:p>
          <a:p>
            <a:pPr>
              <a:buClr>
                <a:schemeClr val="bg1"/>
              </a:buClr>
            </a:pPr>
            <a:r>
              <a:rPr lang="en-GB" sz="1100" b="1">
                <a:solidFill>
                  <a:schemeClr val="tx1"/>
                </a:solidFill>
                <a:latin typeface="Roboto"/>
                <a:ea typeface="Roboto"/>
                <a:cs typeface="Roboto"/>
              </a:rPr>
              <a:t>Higher-income boroughs are less populated</a:t>
            </a:r>
            <a:endParaRPr lang="en-GB" sz="1100">
              <a:solidFill>
                <a:schemeClr val="tx1"/>
              </a:solidFill>
              <a:latin typeface="Roboto"/>
              <a:ea typeface="Roboto"/>
              <a:cs typeface="Roboto"/>
            </a:endParaRPr>
          </a:p>
          <a:p>
            <a:r>
              <a:rPr lang="en-GB" sz="1100">
                <a:solidFill>
                  <a:schemeClr val="tx1"/>
                </a:solidFill>
                <a:latin typeface="Roboto"/>
                <a:ea typeface="Roboto"/>
                <a:cs typeface="Roboto"/>
              </a:rPr>
              <a:t>The strong negative correlation between average income and population (r = −0.64) reflects London's geography. Wealthier boroughs like the City of London (£72k) are low-density, while high-population boroughs like Newham (£28k) are the highest-volume locations. </a:t>
            </a:r>
          </a:p>
          <a:p>
            <a:endParaRPr lang="en-GB" sz="1100" b="1">
              <a:solidFill>
                <a:schemeClr val="tx1"/>
              </a:solidFill>
              <a:latin typeface="Roboto"/>
              <a:ea typeface="Roboto" panose="02000000000000000000" pitchFamily="2" charset="0"/>
              <a:cs typeface="Roboto" panose="02000000000000000000" pitchFamily="2" charset="0"/>
            </a:endParaRPr>
          </a:p>
          <a:p>
            <a:pPr>
              <a:buClr>
                <a:schemeClr val="bg1"/>
              </a:buClr>
            </a:pPr>
            <a:r>
              <a:rPr lang="en-GB" sz="1100" b="1">
                <a:solidFill>
                  <a:schemeClr val="tx1"/>
                </a:solidFill>
                <a:latin typeface="Roboto"/>
                <a:ea typeface="Roboto"/>
                <a:cs typeface="Roboto"/>
              </a:rPr>
              <a:t>Volume is driven by population, not income</a:t>
            </a:r>
            <a:r>
              <a:rPr lang="en-GB" sz="1100">
                <a:solidFill>
                  <a:schemeClr val="tx1"/>
                </a:solidFill>
                <a:latin typeface="Roboto"/>
                <a:ea typeface="Roboto"/>
                <a:cs typeface="Roboto"/>
              </a:rPr>
              <a:t> </a:t>
            </a:r>
          </a:p>
          <a:p>
            <a:r>
              <a:rPr lang="en-GB" sz="1100">
                <a:solidFill>
                  <a:schemeClr val="tx1"/>
                </a:solidFill>
                <a:latin typeface="Roboto"/>
                <a:ea typeface="Roboto"/>
                <a:cs typeface="Roboto"/>
              </a:rPr>
              <a:t>The strong correlation between population and number of transactions (r = 0.51) confirms that store throughput is associated with density. </a:t>
            </a:r>
          </a:p>
          <a:p>
            <a:endParaRPr lang="en-GB" sz="1100" b="1">
              <a:solidFill>
                <a:schemeClr val="tx1"/>
              </a:solidFill>
              <a:latin typeface="Roboto"/>
              <a:ea typeface="Roboto" panose="02000000000000000000" pitchFamily="2" charset="0"/>
              <a:cs typeface="Roboto" panose="02000000000000000000" pitchFamily="2" charset="0"/>
            </a:endParaRPr>
          </a:p>
          <a:p>
            <a:pPr>
              <a:buClr>
                <a:schemeClr val="bg1"/>
              </a:buClr>
            </a:pPr>
            <a:r>
              <a:rPr lang="en-GB" sz="1100" b="1">
                <a:solidFill>
                  <a:schemeClr val="tx1"/>
                </a:solidFill>
                <a:latin typeface="Roboto"/>
                <a:ea typeface="Roboto"/>
                <a:cs typeface="Roboto"/>
              </a:rPr>
              <a:t>Transactions per capita and total transactions move together</a:t>
            </a:r>
            <a:r>
              <a:rPr lang="en-GB" sz="1100">
                <a:solidFill>
                  <a:schemeClr val="tx1"/>
                </a:solidFill>
                <a:latin typeface="Roboto"/>
                <a:ea typeface="Roboto"/>
                <a:cs typeface="Roboto"/>
              </a:rPr>
              <a:t> (r = 0.87) </a:t>
            </a:r>
          </a:p>
          <a:p>
            <a:r>
              <a:rPr lang="en-GB" sz="1100">
                <a:solidFill>
                  <a:schemeClr val="tx1"/>
                </a:solidFill>
                <a:latin typeface="Roboto"/>
                <a:ea typeface="Roboto"/>
                <a:cs typeface="Roboto"/>
              </a:rPr>
              <a:t>Boroughs with high per-capita engagement also generate the most absolute volume, identifying a core group of high-loyalty and high-revenue boroughs worth prioritising for investment.</a:t>
            </a:r>
          </a:p>
        </p:txBody>
      </p:sp>
      <p:pic>
        <p:nvPicPr>
          <p:cNvPr id="3082" name="Picture 10">
            <a:extLst>
              <a:ext uri="{FF2B5EF4-FFF2-40B4-BE49-F238E27FC236}">
                <a16:creationId xmlns:a16="http://schemas.microsoft.com/office/drawing/2014/main" id="{D9896CE9-B960-489D-CF86-A647EEDDB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428" y="691511"/>
            <a:ext cx="4809697" cy="3760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4561942"/>
      </p:ext>
    </p:extLst>
  </p:cSld>
  <p:clrMapOvr>
    <a:masterClrMapping/>
  </p:clrMapOvr>
  <mc:AlternateContent xmlns:mc="http://schemas.openxmlformats.org/markup-compatibility/2006" xmlns:p14="http://schemas.microsoft.com/office/powerpoint/2010/main">
    <mc:Choice Requires="p14">
      <p:transition spd="slow" p14:dur="2000" advTm="22406"/>
    </mc:Choice>
    <mc:Fallback xmlns="">
      <p:transition spd="slow" advTm="2240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A0CA6D39-8BC4-3B4B-DF39-00261F3B4C35}"/>
            </a:ext>
          </a:extLst>
        </p:cNvPr>
        <p:cNvGrpSpPr/>
        <p:nvPr/>
      </p:nvGrpSpPr>
      <p:grpSpPr>
        <a:xfrm>
          <a:off x="0" y="0"/>
          <a:ext cx="0" cy="0"/>
          <a:chOff x="0" y="0"/>
          <a:chExt cx="0" cy="0"/>
        </a:xfrm>
      </p:grpSpPr>
      <p:sp>
        <p:nvSpPr>
          <p:cNvPr id="125" name="Google Shape;125;p16">
            <a:extLst>
              <a:ext uri="{FF2B5EF4-FFF2-40B4-BE49-F238E27FC236}">
                <a16:creationId xmlns:a16="http://schemas.microsoft.com/office/drawing/2014/main" id="{8A5E3837-64FE-9D93-516B-1D543F43C832}"/>
              </a:ext>
            </a:extLst>
          </p:cNvPr>
          <p:cNvSpPr txBox="1">
            <a:spLocks noGrp="1"/>
          </p:cNvSpPr>
          <p:nvPr>
            <p:ph type="title"/>
          </p:nvPr>
        </p:nvSpPr>
        <p:spPr>
          <a:xfrm>
            <a:off x="-230657" y="282472"/>
            <a:ext cx="4852765" cy="463523"/>
          </a:xfrm>
          <a:prstGeom prst="rect">
            <a:avLst/>
          </a:prstGeom>
        </p:spPr>
        <p:txBody>
          <a:bodyPr spcFirstLastPara="1" wrap="square" lIns="91425" tIns="91425" rIns="91425" bIns="91425" anchor="b" anchorCtr="0">
            <a:noAutofit/>
          </a:bodyPr>
          <a:lstStyle/>
          <a:p>
            <a:r>
              <a:rPr lang="en-US" sz="1800">
                <a:solidFill>
                  <a:schemeClr val="tx1"/>
                </a:solidFill>
              </a:rPr>
              <a:t>Task 3 — Income vs Food Purchasing: Correlation Analysis</a:t>
            </a:r>
            <a:endParaRPr lang="en-US">
              <a:solidFill>
                <a:schemeClr val="tx1"/>
              </a:solidFill>
            </a:endParaRPr>
          </a:p>
        </p:txBody>
      </p:sp>
      <p:sp>
        <p:nvSpPr>
          <p:cNvPr id="127" name="Google Shape;127;p16">
            <a:extLst>
              <a:ext uri="{FF2B5EF4-FFF2-40B4-BE49-F238E27FC236}">
                <a16:creationId xmlns:a16="http://schemas.microsoft.com/office/drawing/2014/main" id="{6BC040B8-0366-7972-1EE6-133D149FEF04}"/>
              </a:ext>
            </a:extLst>
          </p:cNvPr>
          <p:cNvSpPr txBox="1">
            <a:spLocks noGrp="1"/>
          </p:cNvSpPr>
          <p:nvPr>
            <p:ph type="body" idx="2"/>
          </p:nvPr>
        </p:nvSpPr>
        <p:spPr>
          <a:xfrm>
            <a:off x="4923441" y="607531"/>
            <a:ext cx="4041877" cy="4647017"/>
          </a:xfrm>
          <a:prstGeom prst="rect">
            <a:avLst/>
          </a:prstGeom>
        </p:spPr>
        <p:txBody>
          <a:bodyPr spcFirstLastPara="1" wrap="square" lIns="91425" tIns="91425" rIns="91425" bIns="91425" anchor="ctr" anchorCtr="0">
            <a:noAutofit/>
          </a:bodyPr>
          <a:lstStyle/>
          <a:p>
            <a:pPr>
              <a:buNone/>
            </a:pPr>
            <a:r>
              <a:rPr lang="en-GB" sz="1400" b="1"/>
              <a:t>Income vs. Shopping Habits</a:t>
            </a:r>
            <a:endParaRPr lang="en-GB"/>
          </a:p>
          <a:p>
            <a:pPr>
              <a:buFont typeface="Roboto" panose="020B0604020202020204" pitchFamily="34" charset="0"/>
              <a:buChar char="●"/>
            </a:pPr>
            <a:r>
              <a:rPr lang="en-GB" sz="1050"/>
              <a:t>There is a very strong relationship between higher income and the consumption of </a:t>
            </a:r>
            <a:r>
              <a:rPr lang="en-GB" sz="1050" b="1"/>
              <a:t>Wine (r=0.81)</a:t>
            </a:r>
            <a:r>
              <a:rPr lang="en-GB" sz="1050"/>
              <a:t>, </a:t>
            </a:r>
            <a:r>
              <a:rPr lang="en-GB" sz="1050" b="1"/>
              <a:t>Energy from Fibre (0.78)</a:t>
            </a:r>
            <a:r>
              <a:rPr lang="en-GB" sz="1050"/>
              <a:t>, and </a:t>
            </a:r>
            <a:r>
              <a:rPr lang="en-GB" sz="1050" b="1"/>
              <a:t>Fruit &amp; Veg (0.72)</a:t>
            </a:r>
            <a:r>
              <a:rPr lang="en-GB" sz="1050"/>
              <a:t>. Higher-income households are prioritizing health-associated nutrients (fibre) and lifestyle categories (alcohol).</a:t>
            </a:r>
          </a:p>
          <a:p>
            <a:pPr>
              <a:lnSpc>
                <a:spcPct val="114999"/>
              </a:lnSpc>
              <a:buFont typeface="Roboto" panose="020B0604020202020204" pitchFamily="34" charset="0"/>
              <a:buChar char="●"/>
            </a:pPr>
            <a:endParaRPr lang="en-GB" sz="1050"/>
          </a:p>
          <a:p>
            <a:pPr>
              <a:lnSpc>
                <a:spcPct val="114999"/>
              </a:lnSpc>
              <a:buFont typeface="Roboto" panose="020B0604020202020204" pitchFamily="34" charset="0"/>
              <a:buChar char="●"/>
            </a:pPr>
            <a:r>
              <a:rPr lang="en-GB" sz="1050"/>
              <a:t>As income decreases, we see a sharp increase in the purchase of </a:t>
            </a:r>
            <a:r>
              <a:rPr lang="en-GB" sz="1050" b="1"/>
              <a:t>Water (-0.76)</a:t>
            </a:r>
            <a:r>
              <a:rPr lang="en-GB" sz="1050"/>
              <a:t>, </a:t>
            </a:r>
            <a:r>
              <a:rPr lang="en-GB" sz="1050" b="1"/>
              <a:t>Fats &amp; Oils (-0.72)</a:t>
            </a:r>
            <a:r>
              <a:rPr lang="en-GB" sz="1050"/>
              <a:t>, and </a:t>
            </a:r>
            <a:r>
              <a:rPr lang="en-GB" sz="1050" b="1"/>
              <a:t>Grains (-0.70)</a:t>
            </a:r>
            <a:r>
              <a:rPr lang="en-GB" sz="1050"/>
              <a:t>. This suggests that lower-income households rely more heavily on pantry staples and basic hydration.</a:t>
            </a:r>
          </a:p>
          <a:p>
            <a:pPr>
              <a:lnSpc>
                <a:spcPct val="114999"/>
              </a:lnSpc>
              <a:buFont typeface="Roboto" panose="020B0604020202020204" pitchFamily="34" charset="0"/>
              <a:buChar char="●"/>
            </a:pPr>
            <a:endParaRPr lang="en-GB" sz="1050"/>
          </a:p>
          <a:p>
            <a:pPr>
              <a:lnSpc>
                <a:spcPct val="114999"/>
              </a:lnSpc>
              <a:buFont typeface="Roboto" panose="020B0604020202020204" pitchFamily="34" charset="0"/>
              <a:buChar char="●"/>
            </a:pPr>
            <a:r>
              <a:rPr lang="en-GB" sz="1050" b="1"/>
              <a:t>W</a:t>
            </a:r>
            <a:r>
              <a:rPr lang="en-GB" sz="1050"/>
              <a:t>hile </a:t>
            </a:r>
            <a:r>
              <a:rPr lang="en-GB" sz="1050" b="1"/>
              <a:t>Red Meat (-0.35)</a:t>
            </a:r>
            <a:r>
              <a:rPr lang="en-GB" sz="1050"/>
              <a:t> and </a:t>
            </a:r>
            <a:r>
              <a:rPr lang="en-GB" sz="1050" b="1"/>
              <a:t>Soft Drinks (-0.58)</a:t>
            </a:r>
            <a:r>
              <a:rPr lang="en-GB" sz="1050"/>
              <a:t> correlate with lower income, </a:t>
            </a:r>
            <a:r>
              <a:rPr lang="en-GB" sz="1050" b="1"/>
              <a:t>Dairy Weight (0.81)</a:t>
            </a:r>
            <a:r>
              <a:rPr lang="en-GB" sz="1050"/>
              <a:t> and </a:t>
            </a:r>
            <a:r>
              <a:rPr lang="en-GB" sz="1050" b="1"/>
              <a:t>Energy from Fat (0.52)</a:t>
            </a:r>
            <a:r>
              <a:rPr lang="en-GB" sz="1050"/>
              <a:t> lean toward higher income. This indicates a clear divergence in how different income tiers source their protein and energy.</a:t>
            </a:r>
          </a:p>
          <a:p>
            <a:pPr>
              <a:lnSpc>
                <a:spcPct val="114999"/>
              </a:lnSpc>
              <a:buFont typeface="Roboto" panose="020B0604020202020204" pitchFamily="34" charset="0"/>
              <a:buChar char="●"/>
            </a:pPr>
            <a:endParaRPr lang="en-GB" sz="1050"/>
          </a:p>
          <a:p>
            <a:pPr>
              <a:lnSpc>
                <a:spcPct val="114999"/>
              </a:lnSpc>
              <a:buFont typeface="Roboto" panose="020B0604020202020204" pitchFamily="34" charset="0"/>
              <a:buChar char="●"/>
            </a:pPr>
            <a:r>
              <a:rPr lang="en-GB" sz="1050"/>
              <a:t>Most categories shown with three stars ($***$) indicate high statistical confidence. The strongest correlations (above 0.70 or below -0.70) represent the most reliable predictors of customer wealth segments.</a:t>
            </a:r>
          </a:p>
          <a:p>
            <a:pPr marL="114300" indent="0">
              <a:lnSpc>
                <a:spcPct val="114999"/>
              </a:lnSpc>
              <a:buNone/>
            </a:pPr>
            <a:endParaRPr lang="en-GB" sz="1100"/>
          </a:p>
          <a:p>
            <a:pPr>
              <a:lnSpc>
                <a:spcPct val="114999"/>
              </a:lnSpc>
              <a:buFont typeface="Arial" panose="020B0604020202020204" pitchFamily="34" charset="0"/>
              <a:buChar char="•"/>
            </a:pPr>
            <a:endParaRPr lang="en-GB" sz="1400"/>
          </a:p>
          <a:p>
            <a:pPr marL="285750" indent="-285750">
              <a:lnSpc>
                <a:spcPct val="114999"/>
              </a:lnSpc>
              <a:spcAft>
                <a:spcPts val="1600"/>
              </a:spcAft>
            </a:pPr>
            <a:endParaRPr lang="en">
              <a:latin typeface="Roboto" panose="02000000000000000000" pitchFamily="2" charset="0"/>
              <a:ea typeface="Roboto" panose="02000000000000000000" pitchFamily="2" charset="0"/>
              <a:cs typeface="Roboto" panose="02000000000000000000" pitchFamily="2" charset="0"/>
            </a:endParaRPr>
          </a:p>
        </p:txBody>
      </p:sp>
      <p:pic>
        <p:nvPicPr>
          <p:cNvPr id="3" name="Picture 8">
            <a:extLst>
              <a:ext uri="{FF2B5EF4-FFF2-40B4-BE49-F238E27FC236}">
                <a16:creationId xmlns:a16="http://schemas.microsoft.com/office/drawing/2014/main" id="{D8FC3343-85BA-C8FC-E7D5-4D874CD212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8" y="1101267"/>
            <a:ext cx="4654471" cy="3663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5069114"/>
      </p:ext>
    </p:extLst>
  </p:cSld>
  <p:clrMapOvr>
    <a:masterClrMapping/>
  </p:clrMapOvr>
  <mc:AlternateContent xmlns:mc="http://schemas.openxmlformats.org/markup-compatibility/2006" xmlns:p14="http://schemas.microsoft.com/office/powerpoint/2010/main">
    <mc:Choice Requires="p14">
      <p:transition spd="slow" p14:dur="2000" advTm="22445"/>
    </mc:Choice>
    <mc:Fallback xmlns="">
      <p:transition spd="slow" advTm="2244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517A0B00-7B0B-0AEB-865E-C6B4C72CF982}"/>
            </a:ext>
          </a:extLst>
        </p:cNvPr>
        <p:cNvGrpSpPr/>
        <p:nvPr/>
      </p:nvGrpSpPr>
      <p:grpSpPr>
        <a:xfrm>
          <a:off x="0" y="0"/>
          <a:ext cx="0" cy="0"/>
          <a:chOff x="0" y="0"/>
          <a:chExt cx="0" cy="0"/>
        </a:xfrm>
      </p:grpSpPr>
      <p:sp>
        <p:nvSpPr>
          <p:cNvPr id="125" name="Google Shape;125;p16">
            <a:extLst>
              <a:ext uri="{FF2B5EF4-FFF2-40B4-BE49-F238E27FC236}">
                <a16:creationId xmlns:a16="http://schemas.microsoft.com/office/drawing/2014/main" id="{DBBC1D2A-C513-6E86-B6A6-23A285426210}"/>
              </a:ext>
            </a:extLst>
          </p:cNvPr>
          <p:cNvSpPr txBox="1">
            <a:spLocks noGrp="1"/>
          </p:cNvSpPr>
          <p:nvPr>
            <p:ph type="title"/>
          </p:nvPr>
        </p:nvSpPr>
        <p:spPr>
          <a:xfrm>
            <a:off x="157975" y="348704"/>
            <a:ext cx="4045200" cy="463523"/>
          </a:xfrm>
          <a:prstGeom prst="rect">
            <a:avLst/>
          </a:prstGeom>
        </p:spPr>
        <p:txBody>
          <a:bodyPr spcFirstLastPara="1" wrap="square" lIns="91425" tIns="91425" rIns="91425" bIns="91425" anchor="b" anchorCtr="0">
            <a:noAutofit/>
          </a:bodyPr>
          <a:lstStyle/>
          <a:p>
            <a:r>
              <a:rPr lang="en" sz="1800">
                <a:solidFill>
                  <a:schemeClr val="accent2">
                    <a:lumMod val="76000"/>
                  </a:schemeClr>
                </a:solidFill>
              </a:rPr>
              <a:t>Does Income Affect Diet Composition? (MSOA Evidence)</a:t>
            </a:r>
            <a:endParaRPr lang="en-US">
              <a:solidFill>
                <a:schemeClr val="accent2">
                  <a:lumMod val="76000"/>
                </a:schemeClr>
              </a:solidFill>
            </a:endParaRPr>
          </a:p>
        </p:txBody>
      </p:sp>
      <p:sp>
        <p:nvSpPr>
          <p:cNvPr id="126" name="Google Shape;126;p16">
            <a:extLst>
              <a:ext uri="{FF2B5EF4-FFF2-40B4-BE49-F238E27FC236}">
                <a16:creationId xmlns:a16="http://schemas.microsoft.com/office/drawing/2014/main" id="{3D162595-9917-29DA-B708-D0EF84AC282B}"/>
              </a:ext>
            </a:extLst>
          </p:cNvPr>
          <p:cNvSpPr txBox="1">
            <a:spLocks noGrp="1"/>
          </p:cNvSpPr>
          <p:nvPr>
            <p:ph type="subTitle" idx="1"/>
          </p:nvPr>
        </p:nvSpPr>
        <p:spPr>
          <a:xfrm>
            <a:off x="160063" y="991448"/>
            <a:ext cx="4209467" cy="1134064"/>
          </a:xfrm>
          <a:prstGeom prst="rect">
            <a:avLst/>
          </a:prstGeom>
        </p:spPr>
        <p:txBody>
          <a:bodyPr spcFirstLastPara="1" wrap="square" lIns="91425" tIns="91425" rIns="91425" bIns="91425" anchor="t" anchorCtr="0">
            <a:noAutofit/>
          </a:bodyPr>
          <a:lstStyle/>
          <a:p>
            <a:pPr marL="0" indent="0"/>
            <a:r>
              <a:rPr lang="en-US" sz="1600" i="1">
                <a:solidFill>
                  <a:schemeClr val="accent2">
                    <a:lumMod val="76000"/>
                  </a:schemeClr>
                </a:solidFill>
              </a:rPr>
              <a:t>De Agostini (2014) — The Effect of Food Prices and Household Income on the British Diet · ISER Working Paper 2014-10</a:t>
            </a:r>
            <a:endParaRPr lang="en-US">
              <a:solidFill>
                <a:schemeClr val="accent2">
                  <a:lumMod val="76000"/>
                </a:schemeClr>
              </a:solidFill>
            </a:endParaRPr>
          </a:p>
        </p:txBody>
      </p:sp>
      <p:sp>
        <p:nvSpPr>
          <p:cNvPr id="127" name="Google Shape;127;p16">
            <a:extLst>
              <a:ext uri="{FF2B5EF4-FFF2-40B4-BE49-F238E27FC236}">
                <a16:creationId xmlns:a16="http://schemas.microsoft.com/office/drawing/2014/main" id="{E281CC55-A244-7A38-52D6-F8B8115152BA}"/>
              </a:ext>
            </a:extLst>
          </p:cNvPr>
          <p:cNvSpPr txBox="1">
            <a:spLocks noGrp="1"/>
          </p:cNvSpPr>
          <p:nvPr>
            <p:ph type="body" idx="2"/>
          </p:nvPr>
        </p:nvSpPr>
        <p:spPr>
          <a:xfrm>
            <a:off x="4857352" y="494871"/>
            <a:ext cx="4041877" cy="4647017"/>
          </a:xfrm>
          <a:prstGeom prst="rect">
            <a:avLst/>
          </a:prstGeom>
        </p:spPr>
        <p:txBody>
          <a:bodyPr spcFirstLastPara="1" wrap="square" lIns="91425" tIns="91425" rIns="91425" bIns="91425" anchor="ctr" anchorCtr="0">
            <a:noAutofit/>
          </a:bodyPr>
          <a:lstStyle/>
          <a:p>
            <a:pPr marL="0" indent="0">
              <a:lnSpc>
                <a:spcPct val="114999"/>
              </a:lnSpc>
              <a:spcAft>
                <a:spcPts val="1600"/>
              </a:spcAft>
              <a:buNone/>
            </a:pPr>
            <a:r>
              <a:rPr lang="en" sz="1100" b="1"/>
              <a:t>Main Findings:</a:t>
            </a:r>
            <a:endParaRPr lang="en" sz="1100"/>
          </a:p>
          <a:p>
            <a:pPr>
              <a:lnSpc>
                <a:spcPct val="114999"/>
              </a:lnSpc>
            </a:pPr>
            <a:r>
              <a:rPr lang="en" sz="1100" b="1"/>
              <a:t>Higher income → more fresh foods</a:t>
            </a:r>
            <a:r>
              <a:rPr lang="en" sz="1100"/>
              <a:t> Fruit &amp; veg share ↑ ~10% per log income, dairy ↑            ~0.8%                (p &lt; 0.001) </a:t>
            </a:r>
            <a:endParaRPr lang="en"/>
          </a:p>
          <a:p>
            <a:pPr marL="114300" indent="0">
              <a:lnSpc>
                <a:spcPct val="114999"/>
              </a:lnSpc>
              <a:buNone/>
            </a:pPr>
            <a:endParaRPr lang="en" sz="1100"/>
          </a:p>
          <a:p>
            <a:pPr>
              <a:lnSpc>
                <a:spcPct val="114999"/>
              </a:lnSpc>
            </a:pPr>
            <a:r>
              <a:rPr lang="en" sz="1100" b="1"/>
              <a:t>Lower income → more fats &amp; sweets</a:t>
            </a:r>
            <a:r>
              <a:rPr lang="en" sz="1100"/>
              <a:t> </a:t>
            </a:r>
            <a:endParaRPr lang="en"/>
          </a:p>
          <a:p>
            <a:pPr marL="114300" indent="0">
              <a:lnSpc>
                <a:spcPct val="114999"/>
              </a:lnSpc>
              <a:buNone/>
            </a:pPr>
            <a:r>
              <a:rPr lang="en" sz="1100"/>
              <a:t>          Fats &amp; oils ↓ ~0.5%, sweets ↓ ~4.5% per log income (p &lt;          0.001) </a:t>
            </a:r>
            <a:endParaRPr lang="en"/>
          </a:p>
          <a:p>
            <a:pPr marL="114300" indent="0">
              <a:lnSpc>
                <a:spcPct val="114999"/>
              </a:lnSpc>
              <a:buNone/>
            </a:pPr>
            <a:endParaRPr lang="en" sz="1100" b="1"/>
          </a:p>
          <a:p>
            <a:pPr marL="285750" indent="-171450">
              <a:lnSpc>
                <a:spcPct val="114999"/>
              </a:lnSpc>
            </a:pPr>
            <a:r>
              <a:rPr lang="en" sz="1100" b="1"/>
              <a:t>Ready meals displace fresh foods</a:t>
            </a:r>
            <a:r>
              <a:rPr lang="en" sz="1100"/>
              <a:t> </a:t>
            </a:r>
            <a:endParaRPr lang="en"/>
          </a:p>
          <a:p>
            <a:pPr marL="114300" indent="0">
              <a:lnSpc>
                <a:spcPct val="114999"/>
              </a:lnSpc>
              <a:buNone/>
            </a:pPr>
            <a:r>
              <a:rPr lang="en" sz="1100"/>
              <a:t>     Fruit &amp; veg drop sharply where ready meals ↑ (~-1.33, p &lt;      0.001). Healthy consumers who eat lots of fruit and veg   avoid ready meals and vice-versa.</a:t>
            </a:r>
            <a:endParaRPr lang="en"/>
          </a:p>
          <a:p>
            <a:pPr marL="114300" indent="0">
              <a:lnSpc>
                <a:spcPct val="114999"/>
              </a:lnSpc>
              <a:buNone/>
            </a:pPr>
            <a:endParaRPr lang="en" sz="1100"/>
          </a:p>
          <a:p>
            <a:pPr marL="285750" indent="-171450">
              <a:lnSpc>
                <a:spcPct val="114999"/>
              </a:lnSpc>
            </a:pPr>
            <a:r>
              <a:rPr lang="en" sz="1100" b="1"/>
              <a:t>Other factors</a:t>
            </a:r>
            <a:r>
              <a:rPr lang="en" sz="1100"/>
              <a:t> </a:t>
            </a:r>
            <a:endParaRPr lang="en"/>
          </a:p>
          <a:p>
            <a:pPr marL="114300" indent="0">
              <a:lnSpc>
                <a:spcPct val="114999"/>
              </a:lnSpc>
              <a:buNone/>
            </a:pPr>
            <a:r>
              <a:rPr lang="en" sz="1100"/>
              <a:t>          Dense areas → more fresh foods, fewer sweets </a:t>
            </a:r>
            <a:endParaRPr lang="en"/>
          </a:p>
          <a:p>
            <a:pPr marL="114300" indent="0">
              <a:lnSpc>
                <a:spcPct val="114999"/>
              </a:lnSpc>
              <a:buNone/>
            </a:pPr>
            <a:r>
              <a:rPr lang="en" sz="1100"/>
              <a:t>          </a:t>
            </a:r>
            <a:endParaRPr lang="en"/>
          </a:p>
          <a:p>
            <a:pPr marL="114300" indent="0">
              <a:lnSpc>
                <a:spcPct val="114999"/>
              </a:lnSpc>
              <a:buNone/>
            </a:pPr>
            <a:r>
              <a:rPr lang="en" sz="1100"/>
              <a:t>          Older populations → slightly more sweets &amp; ready              meals</a:t>
            </a:r>
            <a:endParaRPr lang="en"/>
          </a:p>
          <a:p>
            <a:pPr marL="114300" indent="0">
              <a:lnSpc>
                <a:spcPct val="114999"/>
              </a:lnSpc>
              <a:buNone/>
            </a:pPr>
            <a:r>
              <a:rPr lang="en" sz="1100"/>
              <a:t> </a:t>
            </a:r>
          </a:p>
          <a:p>
            <a:pPr marL="114300" indent="0">
              <a:lnSpc>
                <a:spcPct val="114999"/>
              </a:lnSpc>
              <a:buNone/>
            </a:pPr>
            <a:r>
              <a:rPr lang="en" sz="1100"/>
              <a:t>         </a:t>
            </a:r>
          </a:p>
          <a:p>
            <a:pPr marL="114300" indent="0">
              <a:lnSpc>
                <a:spcPct val="114999"/>
              </a:lnSpc>
              <a:buNone/>
            </a:pPr>
            <a:r>
              <a:rPr lang="en" sz="1100"/>
              <a:t>  </a:t>
            </a:r>
          </a:p>
          <a:p>
            <a:pPr marL="285750" indent="-285750">
              <a:lnSpc>
                <a:spcPct val="114999"/>
              </a:lnSpc>
              <a:spcAft>
                <a:spcPts val="1600"/>
              </a:spcAft>
            </a:pPr>
            <a:endParaRPr lang="en" sz="1400"/>
          </a:p>
        </p:txBody>
      </p:sp>
      <p:sp>
        <p:nvSpPr>
          <p:cNvPr id="2" name="TextBox 1">
            <a:extLst>
              <a:ext uri="{FF2B5EF4-FFF2-40B4-BE49-F238E27FC236}">
                <a16:creationId xmlns:a16="http://schemas.microsoft.com/office/drawing/2014/main" id="{22591AE0-11A3-03DF-00B1-7054C1FBF825}"/>
              </a:ext>
            </a:extLst>
          </p:cNvPr>
          <p:cNvSpPr txBox="1"/>
          <p:nvPr/>
        </p:nvSpPr>
        <p:spPr>
          <a:xfrm>
            <a:off x="157829" y="4556785"/>
            <a:ext cx="421158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i="1">
                <a:solidFill>
                  <a:schemeClr val="accent1">
                    <a:lumMod val="76000"/>
                  </a:schemeClr>
                </a:solidFill>
                <a:latin typeface="Roboto" panose="02000000000000000000" pitchFamily="2" charset="0"/>
                <a:ea typeface="Roboto" panose="02000000000000000000" pitchFamily="2" charset="0"/>
                <a:cs typeface="Roboto" panose="02000000000000000000" pitchFamily="2" charset="0"/>
              </a:rPr>
              <a:t>[1] De Agostini, P. (2014) ISER Working Paper 2014-10, University of Essex</a:t>
            </a:r>
            <a:endParaRPr lang="en-US" sz="1200">
              <a:solidFill>
                <a:schemeClr val="accent1">
                  <a:lumMod val="76000"/>
                </a:schemeClr>
              </a:solidFill>
              <a:latin typeface="Roboto" panose="02000000000000000000" pitchFamily="2" charset="0"/>
              <a:ea typeface="Roboto" panose="02000000000000000000" pitchFamily="2" charset="0"/>
              <a:cs typeface="Roboto" panose="02000000000000000000" pitchFamily="2" charset="0"/>
            </a:endParaRPr>
          </a:p>
        </p:txBody>
      </p:sp>
      <p:pic>
        <p:nvPicPr>
          <p:cNvPr id="1030" name="Picture 6">
            <a:extLst>
              <a:ext uri="{FF2B5EF4-FFF2-40B4-BE49-F238E27FC236}">
                <a16:creationId xmlns:a16="http://schemas.microsoft.com/office/drawing/2014/main" id="{7A9B14C3-212A-9C0A-E399-0079D961B9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595" y="1715588"/>
            <a:ext cx="3908256" cy="2910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6971260"/>
      </p:ext>
    </p:extLst>
  </p:cSld>
  <p:clrMapOvr>
    <a:masterClrMapping/>
  </p:clrMapOvr>
  <mc:AlternateContent xmlns:mc="http://schemas.openxmlformats.org/markup-compatibility/2006" xmlns:p14="http://schemas.microsoft.com/office/powerpoint/2010/main">
    <mc:Choice Requires="p14">
      <p:transition spd="slow" p14:dur="2000" advTm="19087"/>
    </mc:Choice>
    <mc:Fallback xmlns="">
      <p:transition spd="slow" advTm="1908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C0F7D48E-66EB-CF83-5128-E860C7371C4B}"/>
            </a:ext>
          </a:extLst>
        </p:cNvPr>
        <p:cNvGrpSpPr/>
        <p:nvPr/>
      </p:nvGrpSpPr>
      <p:grpSpPr>
        <a:xfrm>
          <a:off x="0" y="0"/>
          <a:ext cx="0" cy="0"/>
          <a:chOff x="0" y="0"/>
          <a:chExt cx="0" cy="0"/>
        </a:xfrm>
      </p:grpSpPr>
      <p:sp>
        <p:nvSpPr>
          <p:cNvPr id="125" name="Google Shape;125;p16">
            <a:extLst>
              <a:ext uri="{FF2B5EF4-FFF2-40B4-BE49-F238E27FC236}">
                <a16:creationId xmlns:a16="http://schemas.microsoft.com/office/drawing/2014/main" id="{55C42458-7162-C983-F45F-89A473E89505}"/>
              </a:ext>
            </a:extLst>
          </p:cNvPr>
          <p:cNvSpPr txBox="1">
            <a:spLocks noGrp="1"/>
          </p:cNvSpPr>
          <p:nvPr>
            <p:ph type="title"/>
          </p:nvPr>
        </p:nvSpPr>
        <p:spPr>
          <a:xfrm>
            <a:off x="-3441" y="235020"/>
            <a:ext cx="4045200" cy="463523"/>
          </a:xfrm>
          <a:prstGeom prst="rect">
            <a:avLst/>
          </a:prstGeom>
        </p:spPr>
        <p:txBody>
          <a:bodyPr spcFirstLastPara="1" wrap="square" lIns="91425" tIns="91425" rIns="91425" bIns="91425" anchor="b" anchorCtr="0">
            <a:noAutofit/>
          </a:bodyPr>
          <a:lstStyle/>
          <a:p>
            <a:r>
              <a:rPr lang="en" sz="2000">
                <a:solidFill>
                  <a:schemeClr val="accent2">
                    <a:lumMod val="76000"/>
                  </a:schemeClr>
                </a:solidFill>
              </a:rPr>
              <a:t>Soft Drink Consumption by Income Level</a:t>
            </a:r>
            <a:endParaRPr lang="en-US">
              <a:solidFill>
                <a:schemeClr val="accent2">
                  <a:lumMod val="76000"/>
                </a:schemeClr>
              </a:solidFill>
            </a:endParaRPr>
          </a:p>
        </p:txBody>
      </p:sp>
      <p:sp>
        <p:nvSpPr>
          <p:cNvPr id="126" name="Google Shape;126;p16">
            <a:extLst>
              <a:ext uri="{FF2B5EF4-FFF2-40B4-BE49-F238E27FC236}">
                <a16:creationId xmlns:a16="http://schemas.microsoft.com/office/drawing/2014/main" id="{81F7A808-4451-EB55-496E-73CE6BED9991}"/>
              </a:ext>
            </a:extLst>
          </p:cNvPr>
          <p:cNvSpPr txBox="1">
            <a:spLocks noGrp="1"/>
          </p:cNvSpPr>
          <p:nvPr>
            <p:ph type="subTitle" idx="1"/>
          </p:nvPr>
        </p:nvSpPr>
        <p:spPr>
          <a:xfrm>
            <a:off x="160063" y="594003"/>
            <a:ext cx="4209467" cy="1134064"/>
          </a:xfrm>
          <a:prstGeom prst="rect">
            <a:avLst/>
          </a:prstGeom>
        </p:spPr>
        <p:txBody>
          <a:bodyPr spcFirstLastPara="1" wrap="square" lIns="91425" tIns="91425" rIns="91425" bIns="91425" anchor="t" anchorCtr="0">
            <a:noAutofit/>
          </a:bodyPr>
          <a:lstStyle/>
          <a:p>
            <a:pPr marL="0" indent="0" algn="l"/>
            <a:r>
              <a:rPr lang="en-US" sz="1600">
                <a:solidFill>
                  <a:schemeClr val="accent2">
                    <a:lumMod val="76000"/>
                  </a:schemeClr>
                </a:solidFill>
                <a:latin typeface="Trebuchet MS"/>
                <a:ea typeface="Roboto" panose="02000000000000000000" pitchFamily="2" charset="0"/>
                <a:cs typeface="Roboto" panose="02000000000000000000" pitchFamily="2" charset="0"/>
              </a:rPr>
              <a:t>A multilevel study of area socio-economic</a:t>
            </a:r>
          </a:p>
          <a:p>
            <a:pPr marL="0" indent="0" algn="l"/>
            <a:r>
              <a:rPr lang="en-US" sz="1600">
                <a:solidFill>
                  <a:schemeClr val="accent2">
                    <a:lumMod val="76000"/>
                  </a:schemeClr>
                </a:solidFill>
                <a:latin typeface="Trebuchet MS"/>
              </a:rPr>
              <a:t>status and food purchasing behavior</a:t>
            </a:r>
            <a:r>
              <a:rPr lang="en-US" sz="1600" i="1">
                <a:solidFill>
                  <a:schemeClr val="accent2">
                    <a:lumMod val="76000"/>
                  </a:schemeClr>
                </a:solidFill>
                <a:latin typeface="Trebuchet MS"/>
              </a:rPr>
              <a:t> · </a:t>
            </a:r>
            <a:r>
              <a:rPr lang="en-US" sz="1600">
                <a:solidFill>
                  <a:schemeClr val="tx1">
                    <a:lumMod val="76000"/>
                  </a:schemeClr>
                </a:solidFill>
                <a:highlight>
                  <a:srgbClr val="FFFFFF"/>
                </a:highlight>
                <a:latin typeface="Trebuchet MS"/>
              </a:rPr>
              <a:t>Cambridge University Press 2009-02</a:t>
            </a:r>
            <a:endParaRPr lang="en-US" sz="1600">
              <a:solidFill>
                <a:schemeClr val="tx1">
                  <a:lumMod val="76000"/>
                </a:schemeClr>
              </a:solidFill>
              <a:latin typeface="Trebuchet MS"/>
            </a:endParaRPr>
          </a:p>
        </p:txBody>
      </p:sp>
      <p:sp>
        <p:nvSpPr>
          <p:cNvPr id="127" name="Google Shape;127;p16">
            <a:extLst>
              <a:ext uri="{FF2B5EF4-FFF2-40B4-BE49-F238E27FC236}">
                <a16:creationId xmlns:a16="http://schemas.microsoft.com/office/drawing/2014/main" id="{EE45CAE5-4213-7208-CF22-678BECF657BB}"/>
              </a:ext>
            </a:extLst>
          </p:cNvPr>
          <p:cNvSpPr txBox="1">
            <a:spLocks noGrp="1"/>
          </p:cNvSpPr>
          <p:nvPr>
            <p:ph type="body" idx="2"/>
          </p:nvPr>
        </p:nvSpPr>
        <p:spPr>
          <a:xfrm>
            <a:off x="4773950" y="169985"/>
            <a:ext cx="4041877" cy="4647017"/>
          </a:xfrm>
          <a:prstGeom prst="rect">
            <a:avLst/>
          </a:prstGeom>
        </p:spPr>
        <p:txBody>
          <a:bodyPr spcFirstLastPara="1" wrap="square" lIns="91425" tIns="91425" rIns="91425" bIns="91425" anchor="ctr" anchorCtr="0">
            <a:noAutofit/>
          </a:bodyPr>
          <a:lstStyle/>
          <a:p>
            <a:pPr marL="0" indent="0">
              <a:lnSpc>
                <a:spcPct val="114999"/>
              </a:lnSpc>
              <a:buNone/>
            </a:pPr>
            <a:r>
              <a:rPr lang="en" sz="1400" b="1"/>
              <a:t>Bottom 20% income areas consume more soft drinks</a:t>
            </a:r>
            <a:r>
              <a:rPr lang="en" sz="1400"/>
              <a:t> than top 20% areas. </a:t>
            </a:r>
            <a:endParaRPr lang="en-US"/>
          </a:p>
          <a:p>
            <a:pPr marL="0" indent="0">
              <a:lnSpc>
                <a:spcPct val="114999"/>
              </a:lnSpc>
              <a:buNone/>
            </a:pPr>
            <a:endParaRPr lang="en" sz="1400"/>
          </a:p>
          <a:p>
            <a:pPr marL="0" indent="0">
              <a:lnSpc>
                <a:spcPct val="114999"/>
              </a:lnSpc>
              <a:buNone/>
            </a:pPr>
            <a:r>
              <a:rPr lang="en" sz="1400"/>
              <a:t>Difference: </a:t>
            </a:r>
            <a:r>
              <a:rPr lang="en" sz="1400" b="1"/>
              <a:t>+0.013 servings per capita</a:t>
            </a:r>
            <a:r>
              <a:rPr lang="en" sz="1400"/>
              <a:t> (0.036 vs 0.023).</a:t>
            </a:r>
            <a:endParaRPr lang="en"/>
          </a:p>
          <a:p>
            <a:pPr marL="0" indent="0">
              <a:lnSpc>
                <a:spcPct val="114999"/>
              </a:lnSpc>
              <a:buNone/>
            </a:pPr>
            <a:endParaRPr lang="en" sz="1400"/>
          </a:p>
          <a:p>
            <a:pPr marL="0" indent="0">
              <a:lnSpc>
                <a:spcPct val="114999"/>
              </a:lnSpc>
              <a:buNone/>
            </a:pPr>
            <a:r>
              <a:rPr lang="en" sz="1400">
                <a:solidFill>
                  <a:schemeClr val="bg1"/>
                </a:solidFill>
              </a:rPr>
              <a:t>Data shows mean soft drink intake by income quintile; higher values indicate higher consumption.</a:t>
            </a:r>
            <a:endParaRPr lang="en">
              <a:solidFill>
                <a:schemeClr val="bg1"/>
              </a:solidFill>
            </a:endParaRPr>
          </a:p>
          <a:p>
            <a:pPr marL="0" indent="0">
              <a:lnSpc>
                <a:spcPct val="114999"/>
              </a:lnSpc>
              <a:buNone/>
            </a:pPr>
            <a:endParaRPr lang="en" sz="1400">
              <a:solidFill>
                <a:schemeClr val="bg1"/>
              </a:solidFill>
              <a:ea typeface="Roboto" panose="02000000000000000000" pitchFamily="2" charset="0"/>
              <a:cs typeface="Roboto" panose="02000000000000000000" pitchFamily="2" charset="0"/>
            </a:endParaRPr>
          </a:p>
          <a:p>
            <a:pPr marL="0" indent="0">
              <a:lnSpc>
                <a:spcPct val="114999"/>
              </a:lnSpc>
              <a:buNone/>
            </a:pPr>
            <a:endParaRPr lang="en" sz="1400">
              <a:solidFill>
                <a:schemeClr val="bg1"/>
              </a:solidFill>
              <a:ea typeface="Roboto" panose="02000000000000000000" pitchFamily="2" charset="0"/>
              <a:cs typeface="Roboto" panose="02000000000000000000" pitchFamily="2" charset="0"/>
            </a:endParaRPr>
          </a:p>
          <a:p>
            <a:pPr marL="114300" indent="0">
              <a:lnSpc>
                <a:spcPct val="114999"/>
              </a:lnSpc>
              <a:buNone/>
            </a:pPr>
            <a:endParaRPr lang="en" sz="1400">
              <a:ea typeface="Roboto" panose="02000000000000000000" pitchFamily="2" charset="0"/>
              <a:cs typeface="Roboto" panose="02000000000000000000" pitchFamily="2" charset="0"/>
            </a:endParaRPr>
          </a:p>
        </p:txBody>
      </p:sp>
      <p:sp>
        <p:nvSpPr>
          <p:cNvPr id="2" name="TextBox 1">
            <a:extLst>
              <a:ext uri="{FF2B5EF4-FFF2-40B4-BE49-F238E27FC236}">
                <a16:creationId xmlns:a16="http://schemas.microsoft.com/office/drawing/2014/main" id="{DAAB666F-D01B-2B6D-562F-8F55FC7209A6}"/>
              </a:ext>
            </a:extLst>
          </p:cNvPr>
          <p:cNvSpPr txBox="1"/>
          <p:nvPr/>
        </p:nvSpPr>
        <p:spPr>
          <a:xfrm>
            <a:off x="157829" y="4497954"/>
            <a:ext cx="421158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i="1">
                <a:solidFill>
                  <a:schemeClr val="accent1">
                    <a:lumMod val="76000"/>
                  </a:schemeClr>
                </a:solidFill>
                <a:latin typeface="Roboto" panose="02000000000000000000" pitchFamily="2" charset="0"/>
                <a:ea typeface="Roboto" panose="02000000000000000000" pitchFamily="2" charset="0"/>
                <a:cs typeface="Roboto" panose="02000000000000000000" pitchFamily="2" charset="0"/>
              </a:rPr>
              <a:t>[2] </a:t>
            </a:r>
            <a:r>
              <a:rPr lang="en-US" sz="1200">
                <a:solidFill>
                  <a:schemeClr val="accent2">
                    <a:lumMod val="76000"/>
                  </a:schemeClr>
                </a:solidFill>
                <a:latin typeface="Roboto" panose="02000000000000000000" pitchFamily="2" charset="0"/>
                <a:ea typeface="Roboto" panose="02000000000000000000" pitchFamily="2" charset="0"/>
                <a:cs typeface="Roboto" panose="02000000000000000000" pitchFamily="2" charset="0"/>
              </a:rPr>
              <a:t>A multilevel study of area socio-economic status and food purchasing behavior</a:t>
            </a:r>
            <a:r>
              <a:rPr lang="en-US" sz="1200" i="1">
                <a:solidFill>
                  <a:schemeClr val="accent2">
                    <a:lumMod val="76000"/>
                  </a:schemeClr>
                </a:solidFill>
                <a:latin typeface="Roboto" panose="02000000000000000000" pitchFamily="2" charset="0"/>
                <a:ea typeface="Roboto" panose="02000000000000000000" pitchFamily="2" charset="0"/>
                <a:cs typeface="Roboto" panose="02000000000000000000" pitchFamily="2" charset="0"/>
              </a:rPr>
              <a:t> ·</a:t>
            </a:r>
            <a:r>
              <a:rPr lang="en-US" sz="1200">
                <a:solidFill>
                  <a:schemeClr val="tx1">
                    <a:lumMod val="76000"/>
                  </a:schemeClr>
                </a:solidFill>
                <a:highlight>
                  <a:srgbClr val="FFFFFF"/>
                </a:highlight>
                <a:latin typeface="Roboto" panose="02000000000000000000" pitchFamily="2" charset="0"/>
                <a:ea typeface="Roboto" panose="02000000000000000000" pitchFamily="2" charset="0"/>
                <a:cs typeface="Roboto" panose="02000000000000000000" pitchFamily="2" charset="0"/>
              </a:rPr>
              <a:t>Cambridge University Press (2009)</a:t>
            </a:r>
            <a:endParaRPr lang="en-US" sz="1200">
              <a:solidFill>
                <a:schemeClr val="tx1">
                  <a:lumMod val="76000"/>
                </a:schemeClr>
              </a:solidFill>
              <a:latin typeface="Roboto" panose="02000000000000000000" pitchFamily="2" charset="0"/>
              <a:ea typeface="Roboto" panose="02000000000000000000" pitchFamily="2" charset="0"/>
              <a:cs typeface="Roboto" panose="02000000000000000000" pitchFamily="2" charset="0"/>
            </a:endParaRPr>
          </a:p>
        </p:txBody>
      </p:sp>
      <p:pic>
        <p:nvPicPr>
          <p:cNvPr id="3" name="Picture 2">
            <a:extLst>
              <a:ext uri="{FF2B5EF4-FFF2-40B4-BE49-F238E27FC236}">
                <a16:creationId xmlns:a16="http://schemas.microsoft.com/office/drawing/2014/main" id="{EF361B4E-9C9E-FD1E-7766-244E30BE2E37}"/>
              </a:ext>
            </a:extLst>
          </p:cNvPr>
          <p:cNvPicPr>
            <a:picLocks noChangeAspect="1"/>
          </p:cNvPicPr>
          <p:nvPr/>
        </p:nvPicPr>
        <p:blipFill>
          <a:blip r:embed="rId3"/>
          <a:stretch>
            <a:fillRect/>
          </a:stretch>
        </p:blipFill>
        <p:spPr>
          <a:xfrm>
            <a:off x="362969" y="1607552"/>
            <a:ext cx="3807305" cy="2418632"/>
          </a:xfrm>
          <a:prstGeom prst="rect">
            <a:avLst/>
          </a:prstGeom>
        </p:spPr>
      </p:pic>
    </p:spTree>
    <p:extLst>
      <p:ext uri="{BB962C8B-B14F-4D97-AF65-F5344CB8AC3E}">
        <p14:creationId xmlns:p14="http://schemas.microsoft.com/office/powerpoint/2010/main" val="2195662486"/>
      </p:ext>
    </p:extLst>
  </p:cSld>
  <p:clrMapOvr>
    <a:masterClrMapping/>
  </p:clrMapOvr>
  <mc:AlternateContent xmlns:mc="http://schemas.openxmlformats.org/markup-compatibility/2006" xmlns:p14="http://schemas.microsoft.com/office/powerpoint/2010/main">
    <mc:Choice Requires="p14">
      <p:transition spd="slow" p14:dur="2000" advTm="14823"/>
    </mc:Choice>
    <mc:Fallback xmlns="">
      <p:transition spd="slow" advTm="1482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a:extLst>
            <a:ext uri="{FF2B5EF4-FFF2-40B4-BE49-F238E27FC236}">
              <a16:creationId xmlns:a16="http://schemas.microsoft.com/office/drawing/2014/main" id="{54F70725-C49C-0A1F-1788-BA8F2C16F2DD}"/>
            </a:ext>
          </a:extLst>
        </p:cNvPr>
        <p:cNvGrpSpPr/>
        <p:nvPr/>
      </p:nvGrpSpPr>
      <p:grpSpPr>
        <a:xfrm>
          <a:off x="0" y="0"/>
          <a:ext cx="0" cy="0"/>
          <a:chOff x="0" y="0"/>
          <a:chExt cx="0" cy="0"/>
        </a:xfrm>
      </p:grpSpPr>
      <p:sp>
        <p:nvSpPr>
          <p:cNvPr id="91" name="Google Shape;91;p14">
            <a:extLst>
              <a:ext uri="{FF2B5EF4-FFF2-40B4-BE49-F238E27FC236}">
                <a16:creationId xmlns:a16="http://schemas.microsoft.com/office/drawing/2014/main" id="{9D095ED5-9DE4-D7EE-D0B2-A7BF0F9F85C0}"/>
              </a:ext>
            </a:extLst>
          </p:cNvPr>
          <p:cNvSpPr txBox="1">
            <a:spLocks noGrp="1"/>
          </p:cNvSpPr>
          <p:nvPr>
            <p:ph type="title"/>
          </p:nvPr>
        </p:nvSpPr>
        <p:spPr>
          <a:xfrm>
            <a:off x="311700" y="82228"/>
            <a:ext cx="8520600" cy="607800"/>
          </a:xfrm>
          <a:prstGeom prst="rect">
            <a:avLst/>
          </a:prstGeom>
        </p:spPr>
        <p:txBody>
          <a:bodyPr spcFirstLastPara="1" wrap="square" lIns="91425" tIns="91425" rIns="91425" bIns="91425" anchor="t" anchorCtr="0">
            <a:noAutofit/>
          </a:bodyPr>
          <a:lstStyle/>
          <a:p>
            <a:r>
              <a:rPr lang="en" sz="2000">
                <a:latin typeface="Trebuchet MS"/>
              </a:rPr>
              <a:t>References</a:t>
            </a:r>
            <a:endParaRPr lang="en-US">
              <a:latin typeface="Trebuchet MS"/>
            </a:endParaRPr>
          </a:p>
          <a:p>
            <a:br>
              <a:rPr lang="en"/>
            </a:br>
            <a:endParaRPr lang="en">
              <a:solidFill>
                <a:srgbClr val="000000"/>
              </a:solidFill>
            </a:endParaRPr>
          </a:p>
          <a:p>
            <a:endParaRPr lang="en"/>
          </a:p>
        </p:txBody>
      </p:sp>
      <p:sp>
        <p:nvSpPr>
          <p:cNvPr id="95" name="Google Shape;95;p14">
            <a:extLst>
              <a:ext uri="{FF2B5EF4-FFF2-40B4-BE49-F238E27FC236}">
                <a16:creationId xmlns:a16="http://schemas.microsoft.com/office/drawing/2014/main" id="{A0337625-83B2-E1BD-1FA8-6C21DB8428AB}"/>
              </a:ext>
            </a:extLst>
          </p:cNvPr>
          <p:cNvSpPr txBox="1">
            <a:spLocks noGrp="1"/>
          </p:cNvSpPr>
          <p:nvPr>
            <p:ph type="body" idx="4294967295"/>
          </p:nvPr>
        </p:nvSpPr>
        <p:spPr>
          <a:xfrm>
            <a:off x="506425" y="1304875"/>
            <a:ext cx="2494500" cy="461400"/>
          </a:xfrm>
          <a:prstGeom prst="rect">
            <a:avLst/>
          </a:prstGeom>
        </p:spPr>
        <p:txBody>
          <a:bodyPr spcFirstLastPara="1" wrap="square" lIns="91425" tIns="91425" rIns="91425" bIns="91425" anchor="t" anchorCtr="0">
            <a:noAutofit/>
          </a:bodyPr>
          <a:lstStyle/>
          <a:p>
            <a:pPr>
              <a:lnSpc>
                <a:spcPct val="114999"/>
              </a:lnSpc>
              <a:buNone/>
            </a:pPr>
            <a:r>
              <a:rPr lang="en">
                <a:solidFill>
                  <a:schemeClr val="lt1"/>
                </a:solidFill>
              </a:rPr>
              <a:t>What does it </a:t>
            </a:r>
            <a:r>
              <a:rPr lang="en" err="1">
                <a:solidFill>
                  <a:schemeClr val="lt1"/>
                </a:solidFill>
              </a:rPr>
              <a:t>contin</a:t>
            </a:r>
            <a:endParaRPr lang="en" err="1">
              <a:solidFill>
                <a:srgbClr val="000000"/>
              </a:solidFill>
            </a:endParaRPr>
          </a:p>
          <a:p>
            <a:pPr marL="0" lvl="0" indent="0" algn="l">
              <a:lnSpc>
                <a:spcPct val="114999"/>
              </a:lnSpc>
              <a:spcBef>
                <a:spcPts val="0"/>
              </a:spcBef>
              <a:spcAft>
                <a:spcPts val="0"/>
              </a:spcAft>
              <a:buNone/>
            </a:pPr>
            <a:endParaRPr lang="en">
              <a:solidFill>
                <a:schemeClr val="lt1"/>
              </a:solidFill>
            </a:endParaRPr>
          </a:p>
        </p:txBody>
      </p:sp>
      <p:sp>
        <p:nvSpPr>
          <p:cNvPr id="96" name="Google Shape;96;p14">
            <a:extLst>
              <a:ext uri="{FF2B5EF4-FFF2-40B4-BE49-F238E27FC236}">
                <a16:creationId xmlns:a16="http://schemas.microsoft.com/office/drawing/2014/main" id="{AFF0F76D-172A-BA72-5936-6C447FF9491C}"/>
              </a:ext>
            </a:extLst>
          </p:cNvPr>
          <p:cNvSpPr txBox="1">
            <a:spLocks noGrp="1"/>
          </p:cNvSpPr>
          <p:nvPr>
            <p:ph type="body" idx="4294967295"/>
          </p:nvPr>
        </p:nvSpPr>
        <p:spPr>
          <a:xfrm>
            <a:off x="312812" y="469777"/>
            <a:ext cx="8520192" cy="4486122"/>
          </a:xfrm>
          <a:prstGeom prst="rect">
            <a:avLst/>
          </a:prstGeom>
        </p:spPr>
        <p:txBody>
          <a:bodyPr spcFirstLastPara="1" wrap="square" lIns="91425" tIns="91425" rIns="91425" bIns="91425" anchor="t" anchorCtr="0">
            <a:noAutofit/>
          </a:bodyPr>
          <a:lstStyle/>
          <a:p>
            <a:pPr>
              <a:lnSpc>
                <a:spcPct val="114999"/>
              </a:lnSpc>
            </a:pP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Aiello, L.M., Quercia, D., Schifanella, R. and Del Prete, L., 2020. Tesco Grocery 1.0, a large-scale Dataset of Grocery Purchases in London. </a:t>
            </a:r>
            <a:r>
              <a:rPr lang="en" sz="1200" i="1">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Scientific Data</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 7(1).</a:t>
            </a:r>
          </a:p>
          <a:p>
            <a:pPr marL="114300" indent="0">
              <a:lnSpc>
                <a:spcPct val="114999"/>
              </a:lnSpc>
              <a:buNone/>
            </a:pPr>
            <a:endPar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endParaRPr>
          </a:p>
          <a:p>
            <a:pPr>
              <a:lnSpc>
                <a:spcPct val="114999"/>
              </a:lnSpc>
            </a:pP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De Agostini, P., 2014. </a:t>
            </a:r>
            <a:r>
              <a:rPr lang="en" sz="1200" i="1">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ISER Working Paper Series the Effect of Food Prices and Household Income on the British Diet</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 [Online]. Available from: </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hlinkClick r:id="rId3"/>
              </a:rPr>
              <a:t>https://www.iser.essex.ac.uk/wp-content/uploads/files/working-papers/iser/2014-10.pdf</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a:t>
            </a:r>
            <a:endParaRPr lang="en" sz="1200">
              <a:latin typeface="Roboto" panose="02000000000000000000" pitchFamily="2" charset="0"/>
              <a:ea typeface="Roboto" panose="02000000000000000000" pitchFamily="2" charset="0"/>
              <a:cs typeface="Roboto" panose="02000000000000000000" pitchFamily="2" charset="0"/>
            </a:endParaRPr>
          </a:p>
          <a:p>
            <a:pPr marL="114300" indent="0">
              <a:lnSpc>
                <a:spcPct val="114999"/>
              </a:lnSpc>
              <a:buNone/>
            </a:pPr>
            <a:endPar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endParaRPr>
          </a:p>
          <a:p>
            <a:pPr>
              <a:lnSpc>
                <a:spcPct val="114999"/>
              </a:lnSpc>
            </a:pP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French, S.A., Wall, M. and Mitchell, N.R., 2010. Household income differences in food sources and food items purchased [Online]. </a:t>
            </a:r>
            <a:r>
              <a:rPr lang="en" sz="1200" i="1">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International Journal of Behavioral Nutrition and Physical Activity</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 7(1), p.77. Available from: </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hlinkClick r:id="rId4"/>
              </a:rPr>
              <a:t>https://doi.org/10.1186/1479-5868-7-77</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a:t>
            </a:r>
            <a:endParaRPr lang="en" sz="1200">
              <a:latin typeface="Roboto" panose="02000000000000000000" pitchFamily="2" charset="0"/>
              <a:ea typeface="Roboto" panose="02000000000000000000" pitchFamily="2" charset="0"/>
              <a:cs typeface="Roboto" panose="02000000000000000000" pitchFamily="2" charset="0"/>
            </a:endParaRPr>
          </a:p>
          <a:p>
            <a:pPr marL="114300" indent="0">
              <a:lnSpc>
                <a:spcPct val="114999"/>
              </a:lnSpc>
              <a:buNone/>
            </a:pPr>
            <a:endPar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endParaRPr>
          </a:p>
          <a:p>
            <a:pPr>
              <a:lnSpc>
                <a:spcPct val="114999"/>
              </a:lnSpc>
            </a:pP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Gengler, D., 2026. </a:t>
            </a:r>
            <a:r>
              <a:rPr lang="en" sz="1200" i="1">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A Deeper Look at the Tesco Dataset Using Food Categories</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 [Online]. </a:t>
            </a:r>
            <a:r>
              <a:rPr lang="en" sz="1200" i="1">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P-ADA-WAN Tesco Data Story</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 Available from: </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hlinkClick r:id="rId5"/>
              </a:rPr>
              <a:t>https://p-ada-wan.github.io</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hlinkClick r:id="rId5">
                  <a:extLst>
                    <a:ext uri="{A12FA001-AC4F-418D-AE19-62706E023703}">
                      <ahyp:hlinkClr xmlns:ahyp="http://schemas.microsoft.com/office/drawing/2018/hyperlinkcolor" val="tx"/>
                    </a:ext>
                  </a:extLst>
                </a:hlinkClick>
              </a:rPr>
              <a:t>/</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 [Accessed 25 March 2026].</a:t>
            </a:r>
            <a:endParaRPr lang="en">
              <a:latin typeface="Roboto" panose="02000000000000000000" pitchFamily="2" charset="0"/>
              <a:ea typeface="Roboto" panose="02000000000000000000" pitchFamily="2" charset="0"/>
              <a:cs typeface="Roboto" panose="02000000000000000000" pitchFamily="2" charset="0"/>
            </a:endParaRPr>
          </a:p>
          <a:p>
            <a:pPr marL="114300" indent="0">
              <a:lnSpc>
                <a:spcPct val="114999"/>
              </a:lnSpc>
              <a:buNone/>
            </a:pPr>
            <a:endPar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endParaRPr>
          </a:p>
          <a:p>
            <a:pPr>
              <a:lnSpc>
                <a:spcPct val="114999"/>
              </a:lnSpc>
            </a:pP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hlinkClick r:id="rId6"/>
              </a:rPr>
              <a:t>https://data.london.gov.uk/dataset/ons-model-based-income-estimates-msoa-e113d/</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 , n.d.</a:t>
            </a:r>
          </a:p>
          <a:p>
            <a:pPr marL="114300" indent="0">
              <a:lnSpc>
                <a:spcPct val="114999"/>
              </a:lnSpc>
              <a:buNone/>
            </a:pPr>
            <a:endPar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endParaRPr>
          </a:p>
          <a:p>
            <a:pPr>
              <a:lnSpc>
                <a:spcPct val="114999"/>
              </a:lnSpc>
            </a:pP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https://github.com/radoi90/housequest-data, n.d. </a:t>
            </a:r>
          </a:p>
          <a:p>
            <a:pPr marL="114300" indent="0">
              <a:lnSpc>
                <a:spcPct val="114999"/>
              </a:lnSpc>
              <a:buNone/>
            </a:pPr>
            <a:endPar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endParaRPr>
          </a:p>
          <a:p>
            <a:pPr>
              <a:lnSpc>
                <a:spcPct val="114999"/>
              </a:lnSpc>
            </a:pP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Turrell, G., Bentley, R., Thomas, L.R., Jolley, D., Subramanian, S. and Kavanagh, A.M., 2009. A multilevel study of area socio-economic status and food purchasing behaviour [Online]. </a:t>
            </a:r>
            <a:r>
              <a:rPr lang="en" sz="1200" i="1">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Public Health Nutrition</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 12(11), pp.2074–2083. Available from: </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hlinkClick r:id="rId7"/>
              </a:rPr>
              <a:t>https://doi.org/10.1017/s1368980009004911</a:t>
            </a:r>
            <a:r>
              <a:rPr lang="en" sz="12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rPr>
              <a:t>.</a:t>
            </a:r>
            <a:endParaRPr lang="en" sz="1200">
              <a:latin typeface="Roboto" panose="02000000000000000000" pitchFamily="2" charset="0"/>
              <a:ea typeface="Roboto" panose="02000000000000000000" pitchFamily="2" charset="0"/>
              <a:cs typeface="Roboto" panose="02000000000000000000" pitchFamily="2" charset="0"/>
            </a:endParaRPr>
          </a:p>
          <a:p>
            <a:pPr>
              <a:lnSpc>
                <a:spcPct val="114999"/>
              </a:lnSpc>
            </a:pPr>
            <a:endParaRPr lang="en" sz="1300">
              <a:solidFill>
                <a:srgbClr val="000000"/>
              </a:solidFill>
              <a:highlight>
                <a:srgbClr val="FFFFFF"/>
              </a:highlight>
              <a:latin typeface="Roboto" panose="02000000000000000000" pitchFamily="2" charset="0"/>
              <a:ea typeface="Roboto" panose="02000000000000000000" pitchFamily="2" charset="0"/>
              <a:cs typeface="Roboto" panose="02000000000000000000" pitchFamily="2" charset="0"/>
            </a:endParaRPr>
          </a:p>
          <a:p>
            <a:pPr marL="114300" indent="0">
              <a:lnSpc>
                <a:spcPct val="114999"/>
              </a:lnSpc>
              <a:buNone/>
            </a:pPr>
            <a:endParaRPr lang="en" sz="1400">
              <a:solidFill>
                <a:srgbClr val="000000"/>
              </a:solidFill>
              <a:latin typeface="Roboto" panose="02000000000000000000" pitchFamily="2" charset="0"/>
              <a:ea typeface="Roboto" panose="02000000000000000000" pitchFamily="2" charset="0"/>
              <a:cs typeface="Roboto" panose="02000000000000000000" pitchFamily="2" charset="0"/>
            </a:endParaRPr>
          </a:p>
          <a:p>
            <a:pPr marL="285750" indent="-285750">
              <a:lnSpc>
                <a:spcPct val="114999"/>
              </a:lnSpc>
            </a:pPr>
            <a:endParaRPr lang="en" sz="1600">
              <a:solidFill>
                <a:srgbClr val="434343"/>
              </a:solidFill>
              <a:latin typeface="Roboto" panose="02000000000000000000" pitchFamily="2" charset="0"/>
              <a:ea typeface="Roboto" panose="02000000000000000000" pitchFamily="2" charset="0"/>
              <a:cs typeface="Roboto" panose="02000000000000000000" pitchFamily="2" charset="0"/>
            </a:endParaRPr>
          </a:p>
          <a:p>
            <a:pPr marL="0" indent="0">
              <a:lnSpc>
                <a:spcPct val="114999"/>
              </a:lnSpc>
              <a:buNone/>
            </a:pPr>
            <a:endParaRPr lang="en" sz="1600">
              <a:solidFill>
                <a:srgbClr val="434343"/>
              </a:solidFill>
              <a:latin typeface="Roboto" panose="02000000000000000000" pitchFamily="2" charset="0"/>
              <a:ea typeface="Roboto" panose="02000000000000000000" pitchFamily="2" charset="0"/>
              <a:cs typeface="Roboto" panose="02000000000000000000" pitchFamily="2" charset="0"/>
            </a:endParaRPr>
          </a:p>
          <a:p>
            <a:pPr marL="0" indent="0">
              <a:lnSpc>
                <a:spcPct val="114999"/>
              </a:lnSpc>
              <a:buNone/>
            </a:pPr>
            <a:endParaRPr lang="en" sz="1600">
              <a:latin typeface="Roboto" panose="02000000000000000000" pitchFamily="2" charset="0"/>
              <a:ea typeface="Roboto" panose="02000000000000000000" pitchFamily="2" charset="0"/>
              <a:cs typeface="Roboto" panose="02000000000000000000" pitchFamily="2" charset="0"/>
            </a:endParaRPr>
          </a:p>
          <a:p>
            <a:pPr marL="0" indent="0">
              <a:lnSpc>
                <a:spcPct val="114999"/>
              </a:lnSpc>
              <a:buNone/>
            </a:pPr>
            <a:endParaRPr lang="en" sz="160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7333353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9|15.1"/>
</p:tagLst>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43bffe5-aa34-4844-8f8e-8ef790600f9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B4F752C56C26247AA6DC914CDB48F32" ma:contentTypeVersion="5" ma:contentTypeDescription="Create a new document." ma:contentTypeScope="" ma:versionID="1599a84d5aca6da087ef459502b763e2">
  <xsd:schema xmlns:xsd="http://www.w3.org/2001/XMLSchema" xmlns:xs="http://www.w3.org/2001/XMLSchema" xmlns:p="http://schemas.microsoft.com/office/2006/metadata/properties" xmlns:ns3="e43bffe5-aa34-4844-8f8e-8ef790600f96" targetNamespace="http://schemas.microsoft.com/office/2006/metadata/properties" ma:root="true" ma:fieldsID="ff19f8d0fbd293d1e221db16928628b3" ns3:_="">
    <xsd:import namespace="e43bffe5-aa34-4844-8f8e-8ef790600f96"/>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3bffe5-aa34-4844-8f8e-8ef790600f9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CB1ACF-9879-49FA-AD71-E05D2483D047}">
  <ds:schemaRefs>
    <ds:schemaRef ds:uri="http://schemas.microsoft.com/sharepoint/v3/contenttype/forms"/>
  </ds:schemaRefs>
</ds:datastoreItem>
</file>

<file path=customXml/itemProps2.xml><?xml version="1.0" encoding="utf-8"?>
<ds:datastoreItem xmlns:ds="http://schemas.openxmlformats.org/officeDocument/2006/customXml" ds:itemID="{6CBD68BF-E9E2-4F81-8B3C-F3B72917D0B4}">
  <ds:schemaRefs>
    <ds:schemaRef ds:uri="e43bffe5-aa34-4844-8f8e-8ef790600f9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D05C6CA-8866-4482-A940-7B47B602336F}">
  <ds:schemaRefs>
    <ds:schemaRef ds:uri="e43bffe5-aa34-4844-8f8e-8ef790600f9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377e3d22-4ea1-422d-b0ad-8fcc89406b9e}" enabled="0" method="" siteId="{377e3d22-4ea1-422d-b0ad-8fcc89406b9e}" removed="1"/>
</clbl:labelList>
</file>

<file path=docProps/app.xml><?xml version="1.0" encoding="utf-8"?>
<Properties xmlns="http://schemas.openxmlformats.org/officeDocument/2006/extended-properties" xmlns:vt="http://schemas.openxmlformats.org/officeDocument/2006/docPropsVTypes">
  <TotalTime>0</TotalTime>
  <Words>2222</Words>
  <Application>Microsoft Macintosh PowerPoint</Application>
  <PresentationFormat>On-screen Show (16:9)</PresentationFormat>
  <Paragraphs>173</Paragraphs>
  <Slides>15</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Anthropic Sans</vt:lpstr>
      <vt:lpstr>Arial</vt:lpstr>
      <vt:lpstr>Roboto</vt:lpstr>
      <vt:lpstr>Calibri</vt:lpstr>
      <vt:lpstr>Trebuchet MS</vt:lpstr>
      <vt:lpstr>Times New Roman</vt:lpstr>
      <vt:lpstr>Geometric</vt:lpstr>
      <vt:lpstr>Tesco Grocery 1.0 Dataset vs. Household Income</vt:lpstr>
      <vt:lpstr>Task 1 - Description of the Dataset    </vt:lpstr>
      <vt:lpstr>Task 1 - Limitations of the Dataset</vt:lpstr>
      <vt:lpstr>Task 1 - Limitations of the Dataset</vt:lpstr>
      <vt:lpstr>Insight 1- Seasonality Trends on Wards Level</vt:lpstr>
      <vt:lpstr>Insight 2- Three Distinct Shopper Segments Revealed</vt:lpstr>
      <vt:lpstr>Task 3 - Description of the Income Dataset   </vt:lpstr>
      <vt:lpstr>Task 3 - Assumptions and Limitations</vt:lpstr>
      <vt:lpstr>Task 3 – Preliminary Analysis of Income Dataset</vt:lpstr>
      <vt:lpstr>Task 3 – Preliminary Analysis of Income Dataset</vt:lpstr>
      <vt:lpstr> Task 3 — Combining Datasets  </vt:lpstr>
      <vt:lpstr>Task 3 — Income vs Food Purchasing: Correlation Analysis</vt:lpstr>
      <vt:lpstr>Does Income Affect Diet Composition? (MSOA Evidence)</vt:lpstr>
      <vt:lpstr>Soft Drink Consumption by Income Level</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Yash rai</dc:creator>
  <cp:lastModifiedBy>nick hunt</cp:lastModifiedBy>
  <cp:revision>5</cp:revision>
  <dcterms:modified xsi:type="dcterms:W3CDTF">2026-10-01T18:58:11Z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0x0101004B4F752C56C26247AA6DC914CDB48F32</vt:lpwstr>
  </property>
</Properties>
</file>